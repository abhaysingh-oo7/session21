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E1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bg object 17"/>
          <p:cNvPicPr/>
          <p:nvPr/>
        </p:nvPicPr>
        <p:blipFill>
          <a:blip r:embed="rId2"/>
          <a:stretch/>
        </p:blipFill>
        <p:spPr>
          <a:xfrm>
            <a:off x="0" y="0"/>
            <a:ext cx="121910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96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tl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x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C76B45-55CA-4D21-8DA7-7CE094617681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E1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bg object 17"/>
          <p:cNvPicPr/>
          <p:nvPr/>
        </p:nvPicPr>
        <p:blipFill>
          <a:blip r:embed="rId2"/>
          <a:stretch/>
        </p:blipFill>
        <p:spPr>
          <a:xfrm>
            <a:off x="0" y="0"/>
            <a:ext cx="121910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ck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ed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xt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1097244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4E7ABC-B70F-4F0C-8D64-B1D399FC607A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g object 16" hidden="1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E1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bg object 17" hidden="1"/>
          <p:cNvPicPr/>
          <p:nvPr/>
        </p:nvPicPr>
        <p:blipFill>
          <a:blip r:embed="rId2"/>
          <a:stretch/>
        </p:blipFill>
        <p:spPr>
          <a:xfrm>
            <a:off x="0" y="0"/>
            <a:ext cx="121910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E1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bg object 17"/>
          <p:cNvPicPr/>
          <p:nvPr/>
        </p:nvPicPr>
        <p:blipFill>
          <a:blip r:embed="rId3"/>
          <a:stretch/>
        </p:blipFill>
        <p:spPr>
          <a:xfrm>
            <a:off x="0" y="0"/>
            <a:ext cx="121910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bg object 18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2CD3B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bg object 19"/>
          <p:cNvPicPr/>
          <p:nvPr/>
        </p:nvPicPr>
        <p:blipFill>
          <a:blip r:embed="rId4"/>
          <a:stretch/>
        </p:blipFill>
        <p:spPr>
          <a:xfrm>
            <a:off x="416880" y="385200"/>
            <a:ext cx="1725480" cy="44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bg object 20"/>
          <p:cNvSpPr/>
          <p:nvPr/>
        </p:nvSpPr>
        <p:spPr>
          <a:xfrm>
            <a:off x="456840" y="402120"/>
            <a:ext cx="1645560" cy="365400"/>
          </a:xfrm>
          <a:custGeom>
            <a:avLst/>
            <a:gdLst>
              <a:gd name="textAreaLeft" fmla="*/ 0 w 1645560"/>
              <a:gd name="textAreaRight" fmla="*/ 1645920 w 1645560"/>
              <a:gd name="textAreaTop" fmla="*/ 0 h 365400"/>
              <a:gd name="textAreaBottom" fmla="*/ 365760 h 365400"/>
            </a:gdLst>
            <a:ahLst/>
            <a:cxnLst/>
            <a:rect l="textAreaLeft" t="textAreaTop" r="textAreaRight" b="textAreaBottom"/>
            <a:pathLst>
              <a:path w="1645920" h="365759">
                <a:moveTo>
                  <a:pt x="1584718" y="0"/>
                </a:moveTo>
                <a:lnTo>
                  <a:pt x="60832" y="0"/>
                </a:lnTo>
                <a:lnTo>
                  <a:pt x="52025" y="534"/>
                </a:lnTo>
                <a:lnTo>
                  <a:pt x="52663" y="534"/>
                </a:lnTo>
                <a:lnTo>
                  <a:pt x="45175" y="1933"/>
                </a:lnTo>
                <a:lnTo>
                  <a:pt x="12727" y="23712"/>
                </a:lnTo>
                <a:lnTo>
                  <a:pt x="0" y="60845"/>
                </a:lnTo>
                <a:lnTo>
                  <a:pt x="0" y="304914"/>
                </a:lnTo>
                <a:lnTo>
                  <a:pt x="465" y="312578"/>
                </a:lnTo>
                <a:lnTo>
                  <a:pt x="477" y="312778"/>
                </a:lnTo>
                <a:lnTo>
                  <a:pt x="1898" y="320400"/>
                </a:lnTo>
                <a:lnTo>
                  <a:pt x="1931" y="320578"/>
                </a:lnTo>
                <a:lnTo>
                  <a:pt x="4347" y="327952"/>
                </a:lnTo>
                <a:lnTo>
                  <a:pt x="4398" y="328108"/>
                </a:lnTo>
                <a:lnTo>
                  <a:pt x="7912" y="335165"/>
                </a:lnTo>
                <a:lnTo>
                  <a:pt x="12306" y="341686"/>
                </a:lnTo>
                <a:lnTo>
                  <a:pt x="12411" y="341841"/>
                </a:lnTo>
                <a:lnTo>
                  <a:pt x="17599" y="347670"/>
                </a:lnTo>
                <a:lnTo>
                  <a:pt x="17722" y="347808"/>
                </a:lnTo>
                <a:lnTo>
                  <a:pt x="23710" y="353032"/>
                </a:lnTo>
                <a:lnTo>
                  <a:pt x="60832" y="365760"/>
                </a:lnTo>
                <a:lnTo>
                  <a:pt x="1585074" y="365404"/>
                </a:lnTo>
                <a:lnTo>
                  <a:pt x="1621912" y="353032"/>
                </a:lnTo>
                <a:lnTo>
                  <a:pt x="1643742" y="320578"/>
                </a:lnTo>
                <a:lnTo>
                  <a:pt x="1643803" y="320400"/>
                </a:lnTo>
                <a:lnTo>
                  <a:pt x="1645344" y="312778"/>
                </a:lnTo>
                <a:lnTo>
                  <a:pt x="1645385" y="312578"/>
                </a:lnTo>
                <a:lnTo>
                  <a:pt x="1645896" y="304914"/>
                </a:lnTo>
                <a:lnTo>
                  <a:pt x="1645920" y="304558"/>
                </a:lnTo>
                <a:lnTo>
                  <a:pt x="1645551" y="60845"/>
                </a:lnTo>
                <a:lnTo>
                  <a:pt x="1633134" y="23918"/>
                </a:lnTo>
                <a:lnTo>
                  <a:pt x="1600554" y="2116"/>
                </a:lnTo>
                <a:lnTo>
                  <a:pt x="1592736" y="534"/>
                </a:lnTo>
                <a:lnTo>
                  <a:pt x="1584718" y="0"/>
                </a:lnTo>
                <a:close/>
              </a:path>
            </a:pathLst>
          </a:custGeom>
          <a:solidFill>
            <a:srgbClr val="2CD3B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AA8CCE-13D5-4194-996F-0BC8E3978583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E1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bg object 17"/>
          <p:cNvPicPr/>
          <p:nvPr/>
        </p:nvPicPr>
        <p:blipFill>
          <a:blip r:embed="rId2"/>
          <a:stretch/>
        </p:blipFill>
        <p:spPr>
          <a:xfrm>
            <a:off x="0" y="0"/>
            <a:ext cx="121910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2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856F3C-4F5C-4531-88F4-C98B0835BF93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E1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bg object 17"/>
          <p:cNvPicPr/>
          <p:nvPr/>
        </p:nvPicPr>
        <p:blipFill>
          <a:blip r:embed="rId2"/>
          <a:stretch/>
        </p:blipFill>
        <p:spPr>
          <a:xfrm>
            <a:off x="0" y="0"/>
            <a:ext cx="121910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5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2B9109-005A-4861-97CB-85BC55F68201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7.png"/><Relationship Id="rId8" Type="http://schemas.openxmlformats.org/officeDocument/2006/relationships/image" Target="../media/image7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image" Target="../media/image11.png"/><Relationship Id="rId6" Type="http://schemas.openxmlformats.org/officeDocument/2006/relationships/image" Target="../media/image11.png"/><Relationship Id="rId7" Type="http://schemas.openxmlformats.org/officeDocument/2006/relationships/image" Target="../media/image11.png"/><Relationship Id="rId8" Type="http://schemas.openxmlformats.org/officeDocument/2006/relationships/image" Target="../media/image11.png"/><Relationship Id="rId9" Type="http://schemas.openxmlformats.org/officeDocument/2006/relationships/image" Target="../media/image11.png"/><Relationship Id="rId10" Type="http://schemas.openxmlformats.org/officeDocument/2006/relationships/image" Target="../media/image11.png"/><Relationship Id="rId11" Type="http://schemas.openxmlformats.org/officeDocument/2006/relationships/image" Target="../media/image11.png"/><Relationship Id="rId1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9.png"/><Relationship Id="rId5" Type="http://schemas.openxmlformats.org/officeDocument/2006/relationships/image" Target="../media/image19.pn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3.png"/><Relationship Id="rId5" Type="http://schemas.openxmlformats.org/officeDocument/2006/relationships/image" Target="../media/image23.png"/><Relationship Id="rId6" Type="http://schemas.openxmlformats.org/officeDocument/2006/relationships/image" Target="../media/image23.png"/><Relationship Id="rId7" Type="http://schemas.openxmlformats.org/officeDocument/2006/relationships/image" Target="../media/image23.png"/><Relationship Id="rId8" Type="http://schemas.openxmlformats.org/officeDocument/2006/relationships/image" Target="../media/image24.jpeg"/><Relationship Id="rId9" Type="http://schemas.openxmlformats.org/officeDocument/2006/relationships/image" Target="../media/image25.jpeg"/><Relationship Id="rId10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6.png"/><Relationship Id="rId3" Type="http://schemas.openxmlformats.org/officeDocument/2006/relationships/image" Target="../media/image23.png"/><Relationship Id="rId4" Type="http://schemas.openxmlformats.org/officeDocument/2006/relationships/image" Target="../media/image23.png"/><Relationship Id="rId5" Type="http://schemas.openxmlformats.org/officeDocument/2006/relationships/image" Target="../media/image23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Relationship Id="rId8" Type="http://schemas.openxmlformats.org/officeDocument/2006/relationships/image" Target="../media/image28.jpeg"/><Relationship Id="rId9" Type="http://schemas.openxmlformats.org/officeDocument/2006/relationships/image" Target="../media/image29.jpeg"/><Relationship Id="rId10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jpeg"/><Relationship Id="rId3" Type="http://schemas.openxmlformats.org/officeDocument/2006/relationships/image" Target="../media/image32.jpeg"/><Relationship Id="rId4" Type="http://schemas.openxmlformats.org/officeDocument/2006/relationships/image" Target="../media/image33.jpeg"/><Relationship Id="rId5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jpeg"/><Relationship Id="rId5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jpeg"/><Relationship Id="rId5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0.png"/><Relationship Id="rId3" Type="http://schemas.openxmlformats.org/officeDocument/2006/relationships/image" Target="../media/image23.png"/><Relationship Id="rId4" Type="http://schemas.openxmlformats.org/officeDocument/2006/relationships/image" Target="../media/image23.png"/><Relationship Id="rId5" Type="http://schemas.openxmlformats.org/officeDocument/2006/relationships/image" Target="../media/image23.png"/><Relationship Id="rId6" Type="http://schemas.openxmlformats.org/officeDocument/2006/relationships/image" Target="../media/image23.png"/><Relationship Id="rId7" Type="http://schemas.openxmlformats.org/officeDocument/2006/relationships/image" Target="../media/image41.jpeg"/><Relationship Id="rId8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2.png"/><Relationship Id="rId3" Type="http://schemas.openxmlformats.org/officeDocument/2006/relationships/image" Target="../media/image43.jpeg"/><Relationship Id="rId4" Type="http://schemas.openxmlformats.org/officeDocument/2006/relationships/image" Target="../media/image44.jpeg"/><Relationship Id="rId5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6.png"/><Relationship Id="rId5" Type="http://schemas.openxmlformats.org/officeDocument/2006/relationships/image" Target="../media/image46.png"/><Relationship Id="rId6" Type="http://schemas.openxmlformats.org/officeDocument/2006/relationships/image" Target="../media/image46.png"/><Relationship Id="rId7" Type="http://schemas.openxmlformats.org/officeDocument/2006/relationships/image" Target="../media/image46.png"/><Relationship Id="rId8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E16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object 3"/>
          <p:cNvGrpSpPr/>
          <p:nvPr/>
        </p:nvGrpSpPr>
        <p:grpSpPr>
          <a:xfrm>
            <a:off x="-720" y="-360"/>
            <a:ext cx="12192120" cy="190800"/>
            <a:chOff x="-720" y="-360"/>
            <a:chExt cx="12192120" cy="190800"/>
          </a:xfrm>
        </p:grpSpPr>
        <p:pic>
          <p:nvPicPr>
            <p:cNvPr id="41" name="object 4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2191040" cy="1904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2" name="object 5"/>
            <p:cNvSpPr/>
            <p:nvPr/>
          </p:nvSpPr>
          <p:spPr>
            <a:xfrm>
              <a:off x="-720" y="-360"/>
              <a:ext cx="12192120" cy="73440"/>
            </a:xfrm>
            <a:custGeom>
              <a:avLst/>
              <a:gdLst>
                <a:gd name="textAreaLeft" fmla="*/ 0 w 12192120"/>
                <a:gd name="textAreaRight" fmla="*/ 12192480 w 1219212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12192635" h="73660">
                  <a:moveTo>
                    <a:pt x="10439" y="0"/>
                  </a:moveTo>
                  <a:lnTo>
                    <a:pt x="368" y="10071"/>
                  </a:lnTo>
                  <a:lnTo>
                    <a:pt x="368" y="12230"/>
                  </a:lnTo>
                  <a:lnTo>
                    <a:pt x="0" y="61201"/>
                  </a:lnTo>
                  <a:lnTo>
                    <a:pt x="0" y="63360"/>
                  </a:lnTo>
                  <a:lnTo>
                    <a:pt x="723" y="65519"/>
                  </a:lnTo>
                  <a:lnTo>
                    <a:pt x="2882" y="69113"/>
                  </a:lnTo>
                  <a:lnTo>
                    <a:pt x="4318" y="70561"/>
                  </a:lnTo>
                  <a:lnTo>
                    <a:pt x="7924" y="72720"/>
                  </a:lnTo>
                  <a:lnTo>
                    <a:pt x="10083" y="73431"/>
                  </a:lnTo>
                  <a:lnTo>
                    <a:pt x="12182043" y="73431"/>
                  </a:lnTo>
                  <a:lnTo>
                    <a:pt x="12192127" y="63360"/>
                  </a:lnTo>
                  <a:lnTo>
                    <a:pt x="12192003" y="10071"/>
                  </a:lnTo>
                  <a:lnTo>
                    <a:pt x="12182043" y="355"/>
                  </a:lnTo>
                  <a:lnTo>
                    <a:pt x="10439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" name="object 6"/>
          <p:cNvSpPr/>
          <p:nvPr/>
        </p:nvSpPr>
        <p:spPr>
          <a:xfrm>
            <a:off x="6024960" y="-113040"/>
            <a:ext cx="141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101840" y="1403640"/>
            <a:ext cx="3682800" cy="8485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5400" b="1" u="sng" spc="150" strike="noStrike">
                <a:solidFill>
                  <a:schemeClr val="lt1"/>
                </a:solidFill>
                <a:effectLst/>
                <a:uFill>
                  <a:solidFill>
                    <a:srgbClr val="37BDF7"/>
                  </a:solidFill>
                </a:uFill>
                <a:latin typeface="Calibri"/>
              </a:rPr>
              <a:t>  </a:t>
            </a:r>
            <a:r>
              <a:rPr lang="en-US" sz="5400" b="1" u="sng" spc="-11" strike="noStrike">
                <a:solidFill>
                  <a:schemeClr val="lt1"/>
                </a:solidFill>
                <a:effectLst/>
                <a:uFill>
                  <a:solidFill>
                    <a:srgbClr val="37BDF7"/>
                  </a:solidFill>
                </a:uFill>
                <a:latin typeface="Calibri"/>
              </a:rPr>
              <a:t>TaskBoard</a:t>
            </a:r>
            <a:r>
              <a:rPr lang="en-US" sz="5400" b="1" u="sng" spc="1349" strike="noStrike">
                <a:solidFill>
                  <a:schemeClr val="lt1"/>
                </a:solidFill>
                <a:effectLst/>
                <a:uFill>
                  <a:solidFill>
                    <a:srgbClr val="37BDF7"/>
                  </a:solidFill>
                </a:uFill>
                <a:latin typeface="Calibri"/>
              </a:rPr>
              <a:t> 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5" name="object 9"/>
          <p:cNvPicPr/>
          <p:nvPr/>
        </p:nvPicPr>
        <p:blipFill>
          <a:blip r:embed="rId2"/>
          <a:stretch/>
        </p:blipFill>
        <p:spPr>
          <a:xfrm>
            <a:off x="4074480" y="2268000"/>
            <a:ext cx="3736800" cy="12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object 8"/>
          <p:cNvSpPr/>
          <p:nvPr/>
        </p:nvSpPr>
        <p:spPr>
          <a:xfrm>
            <a:off x="2732760" y="2592360"/>
            <a:ext cx="64213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8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DevOps</a:t>
            </a:r>
            <a:r>
              <a:rPr lang="en-US" sz="2800" b="0" u="none" spc="-85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Final</a:t>
            </a:r>
            <a:r>
              <a:rPr lang="en-US" sz="2800" b="0" u="none" spc="-85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Capstone</a:t>
            </a:r>
            <a:r>
              <a:rPr lang="en-US" sz="2800" b="0" u="none" spc="-85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Project</a:t>
            </a:r>
            <a:r>
              <a:rPr lang="en-US" sz="2800" b="0" u="none" spc="-85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—</a:t>
            </a:r>
            <a:r>
              <a:rPr lang="en-US" sz="2800" b="0" u="none" spc="-85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Session</a:t>
            </a:r>
            <a:r>
              <a:rPr lang="en-US" sz="2800" b="0" u="none" spc="-79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26" strike="noStrike">
                <a:solidFill>
                  <a:srgbClr val="37BDF7"/>
                </a:solidFill>
                <a:effectLst/>
                <a:uFillTx/>
                <a:latin typeface="Calibri"/>
              </a:rPr>
              <a:t>21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object 10"/>
          <p:cNvSpPr/>
          <p:nvPr/>
        </p:nvSpPr>
        <p:spPr>
          <a:xfrm>
            <a:off x="2782440" y="3872520"/>
            <a:ext cx="631332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231840" indent="-2196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</a:t>
            </a:r>
            <a:r>
              <a:rPr lang="en-US" sz="18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production-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grade,</a:t>
            </a:r>
            <a:r>
              <a:rPr lang="en-US" sz="18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full-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stack</a:t>
            </a:r>
            <a:r>
              <a:rPr lang="en-US" sz="18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SaaS</a:t>
            </a:r>
            <a:r>
              <a:rPr lang="en-US" sz="18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project</a:t>
            </a:r>
            <a:r>
              <a:rPr lang="en-US" sz="18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management</a:t>
            </a:r>
            <a:r>
              <a:rPr lang="en-US" sz="18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application engineered</a:t>
            </a:r>
            <a:r>
              <a:rPr lang="en-US" sz="18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from</a:t>
            </a:r>
            <a:r>
              <a:rPr lang="en-US" sz="18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laptop</a:t>
            </a:r>
            <a:r>
              <a:rPr lang="en-US" sz="18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to</a:t>
            </a:r>
            <a:r>
              <a:rPr lang="en-US" sz="18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observable,</a:t>
            </a:r>
            <a:r>
              <a:rPr lang="en-US" sz="18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multi-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cloud</a:t>
            </a:r>
            <a:r>
              <a:rPr lang="en-US" sz="18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Kubernetes.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object 11"/>
          <p:cNvGrpSpPr/>
          <p:nvPr/>
        </p:nvGrpSpPr>
        <p:grpSpPr>
          <a:xfrm>
            <a:off x="-720" y="6767640"/>
            <a:ext cx="12192120" cy="90360"/>
            <a:chOff x="-720" y="6767640"/>
            <a:chExt cx="12192120" cy="90360"/>
          </a:xfrm>
        </p:grpSpPr>
        <p:pic>
          <p:nvPicPr>
            <p:cNvPr id="49" name="object 12"/>
            <p:cNvPicPr/>
            <p:nvPr/>
          </p:nvPicPr>
          <p:blipFill>
            <a:blip r:embed="rId3"/>
            <a:stretch/>
          </p:blipFill>
          <p:spPr>
            <a:xfrm>
              <a:off x="0" y="6767640"/>
              <a:ext cx="12191040" cy="8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" name="object 13"/>
            <p:cNvSpPr/>
            <p:nvPr/>
          </p:nvSpPr>
          <p:spPr>
            <a:xfrm>
              <a:off x="-720" y="6784560"/>
              <a:ext cx="12192120" cy="73440"/>
            </a:xfrm>
            <a:custGeom>
              <a:avLst/>
              <a:gdLst>
                <a:gd name="textAreaLeft" fmla="*/ 0 w 12192120"/>
                <a:gd name="textAreaRight" fmla="*/ 12192480 w 1219212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12192635" h="73659">
                  <a:moveTo>
                    <a:pt x="10439" y="0"/>
                  </a:moveTo>
                  <a:lnTo>
                    <a:pt x="368" y="10083"/>
                  </a:lnTo>
                  <a:lnTo>
                    <a:pt x="368" y="12242"/>
                  </a:lnTo>
                  <a:lnTo>
                    <a:pt x="0" y="61201"/>
                  </a:lnTo>
                  <a:lnTo>
                    <a:pt x="0" y="63360"/>
                  </a:lnTo>
                  <a:lnTo>
                    <a:pt x="723" y="65519"/>
                  </a:lnTo>
                  <a:lnTo>
                    <a:pt x="2882" y="69126"/>
                  </a:lnTo>
                  <a:lnTo>
                    <a:pt x="4318" y="70561"/>
                  </a:lnTo>
                  <a:lnTo>
                    <a:pt x="7924" y="72720"/>
                  </a:lnTo>
                  <a:lnTo>
                    <a:pt x="10083" y="73444"/>
                  </a:lnTo>
                  <a:lnTo>
                    <a:pt x="12182043" y="73444"/>
                  </a:lnTo>
                  <a:lnTo>
                    <a:pt x="12192127" y="63360"/>
                  </a:lnTo>
                  <a:lnTo>
                    <a:pt x="12192007" y="10083"/>
                  </a:lnTo>
                  <a:lnTo>
                    <a:pt x="12182043" y="368"/>
                  </a:lnTo>
                  <a:lnTo>
                    <a:pt x="10439" y="0"/>
                  </a:lnTo>
                  <a:close/>
                </a:path>
              </a:pathLst>
            </a:custGeom>
            <a:solidFill>
              <a:srgbClr val="A78A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37BD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08560" y="316800"/>
            <a:ext cx="2849040" cy="120636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4200" b="0" u="none" spc="709" strike="noStrike">
                <a:solidFill>
                  <a:schemeClr val="lt1"/>
                </a:solidFill>
                <a:effectLst/>
                <a:uFillTx/>
                <a:latin typeface="Gill Sans MT"/>
                <a:ea typeface="Noto Sans CJK SC"/>
              </a:rPr>
              <a:t>📋</a:t>
            </a:r>
            <a:r>
              <a:rPr lang="en-US" sz="4200" b="0" u="none" spc="6" strike="noStrike">
                <a:solidFill>
                  <a:schemeClr val="lt1"/>
                </a:solidFill>
                <a:effectLst/>
                <a:uFillTx/>
                <a:latin typeface="Gill Sans MT"/>
                <a:ea typeface="Noto Sans CJK SC"/>
              </a:rPr>
              <a:t> </a:t>
            </a:r>
            <a:r>
              <a:rPr lang="en-US" sz="3600" b="1" u="none" spc="-11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Agenda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53" name="object 4"/>
          <p:cNvGrpSpPr/>
          <p:nvPr/>
        </p:nvGrpSpPr>
        <p:grpSpPr>
          <a:xfrm>
            <a:off x="1495800" y="1006920"/>
            <a:ext cx="1691640" cy="117000"/>
            <a:chOff x="1495800" y="1006920"/>
            <a:chExt cx="1691640" cy="117000"/>
          </a:xfrm>
        </p:grpSpPr>
        <p:pic>
          <p:nvPicPr>
            <p:cNvPr id="54" name="object 5"/>
            <p:cNvPicPr/>
            <p:nvPr/>
          </p:nvPicPr>
          <p:blipFill>
            <a:blip r:embed="rId1"/>
            <a:stretch/>
          </p:blipFill>
          <p:spPr>
            <a:xfrm>
              <a:off x="1495800" y="1006920"/>
              <a:ext cx="169164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object 6"/>
            <p:cNvSpPr/>
            <p:nvPr/>
          </p:nvSpPr>
          <p:spPr>
            <a:xfrm>
              <a:off x="1537200" y="1023840"/>
              <a:ext cx="1609560" cy="37800"/>
            </a:xfrm>
            <a:custGeom>
              <a:avLst/>
              <a:gdLst>
                <a:gd name="textAreaLeft" fmla="*/ 0 w 1609560"/>
                <a:gd name="textAreaRight" fmla="*/ 1609920 w 16095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536700" h="38100">
                  <a:moveTo>
                    <a:pt x="1536115" y="0"/>
                  </a:moveTo>
                  <a:lnTo>
                    <a:pt x="0" y="0"/>
                  </a:lnTo>
                  <a:lnTo>
                    <a:pt x="0" y="37807"/>
                  </a:lnTo>
                  <a:lnTo>
                    <a:pt x="768235" y="37807"/>
                  </a:lnTo>
                  <a:lnTo>
                    <a:pt x="1536115" y="37807"/>
                  </a:lnTo>
                  <a:lnTo>
                    <a:pt x="1536115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" name="object 8"/>
          <p:cNvSpPr/>
          <p:nvPr/>
        </p:nvSpPr>
        <p:spPr>
          <a:xfrm>
            <a:off x="913680" y="1371240"/>
            <a:ext cx="1280520" cy="384480"/>
          </a:xfrm>
          <a:custGeom>
            <a:avLst/>
            <a:gdLst>
              <a:gd name="textAreaLeft" fmla="*/ 0 w 1280520"/>
              <a:gd name="textAreaRight" fmla="*/ 1280880 w 1280520"/>
              <a:gd name="textAreaTop" fmla="*/ 0 h 384480"/>
              <a:gd name="textAreaBottom" fmla="*/ 384840 h 384480"/>
            </a:gdLst>
            <a:ahLst/>
            <a:cxnLst/>
            <a:rect l="textAreaLeft" t="textAreaTop" r="textAreaRight" b="textAreaBottom"/>
            <a:pathLst>
              <a:path w="1280795" h="384810">
                <a:moveTo>
                  <a:pt x="64439" y="0"/>
                </a:moveTo>
                <a:lnTo>
                  <a:pt x="25402" y="13357"/>
                </a:lnTo>
                <a:lnTo>
                  <a:pt x="2524" y="47517"/>
                </a:lnTo>
                <a:lnTo>
                  <a:pt x="0" y="320395"/>
                </a:lnTo>
                <a:lnTo>
                  <a:pt x="540" y="328743"/>
                </a:lnTo>
                <a:lnTo>
                  <a:pt x="18743" y="365620"/>
                </a:lnTo>
                <a:lnTo>
                  <a:pt x="55734" y="383939"/>
                </a:lnTo>
                <a:lnTo>
                  <a:pt x="64084" y="384479"/>
                </a:lnTo>
                <a:lnTo>
                  <a:pt x="1216444" y="384479"/>
                </a:lnTo>
                <a:lnTo>
                  <a:pt x="1255481" y="371115"/>
                </a:lnTo>
                <a:lnTo>
                  <a:pt x="1278366" y="336954"/>
                </a:lnTo>
                <a:lnTo>
                  <a:pt x="1280528" y="320395"/>
                </a:lnTo>
                <a:lnTo>
                  <a:pt x="1280504" y="64071"/>
                </a:lnTo>
                <a:lnTo>
                  <a:pt x="1267163" y="25397"/>
                </a:lnTo>
                <a:lnTo>
                  <a:pt x="1233003" y="2516"/>
                </a:lnTo>
                <a:lnTo>
                  <a:pt x="64439" y="0"/>
                </a:lnTo>
                <a:close/>
              </a:path>
            </a:pathLst>
          </a:custGeom>
          <a:solidFill>
            <a:srgbClr val="37BD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bject 9"/>
          <p:cNvSpPr/>
          <p:nvPr/>
        </p:nvSpPr>
        <p:spPr>
          <a:xfrm>
            <a:off x="1427760" y="1451880"/>
            <a:ext cx="25308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object 10"/>
          <p:cNvPicPr/>
          <p:nvPr/>
        </p:nvPicPr>
        <p:blipFill>
          <a:blip r:embed="rId2"/>
          <a:stretch/>
        </p:blipFill>
        <p:spPr>
          <a:xfrm>
            <a:off x="873720" y="1857240"/>
            <a:ext cx="1360080" cy="46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object 11"/>
          <p:cNvSpPr/>
          <p:nvPr/>
        </p:nvSpPr>
        <p:spPr>
          <a:xfrm>
            <a:off x="913680" y="1874160"/>
            <a:ext cx="1280520" cy="384480"/>
          </a:xfrm>
          <a:custGeom>
            <a:avLst/>
            <a:gdLst>
              <a:gd name="textAreaLeft" fmla="*/ 0 w 1280520"/>
              <a:gd name="textAreaRight" fmla="*/ 1280880 w 1280520"/>
              <a:gd name="textAreaTop" fmla="*/ 0 h 384480"/>
              <a:gd name="textAreaBottom" fmla="*/ 384840 h 384480"/>
            </a:gdLst>
            <a:ahLst/>
            <a:cxnLst/>
            <a:rect l="textAreaLeft" t="textAreaTop" r="textAreaRight" b="textAreaBottom"/>
            <a:pathLst>
              <a:path w="1280795" h="384810">
                <a:moveTo>
                  <a:pt x="64439" y="0"/>
                </a:moveTo>
                <a:lnTo>
                  <a:pt x="25402" y="13357"/>
                </a:lnTo>
                <a:lnTo>
                  <a:pt x="2524" y="47517"/>
                </a:lnTo>
                <a:lnTo>
                  <a:pt x="0" y="320395"/>
                </a:lnTo>
                <a:lnTo>
                  <a:pt x="540" y="328743"/>
                </a:lnTo>
                <a:lnTo>
                  <a:pt x="18743" y="365620"/>
                </a:lnTo>
                <a:lnTo>
                  <a:pt x="18859" y="365753"/>
                </a:lnTo>
                <a:lnTo>
                  <a:pt x="55734" y="383939"/>
                </a:lnTo>
                <a:lnTo>
                  <a:pt x="64084" y="384479"/>
                </a:lnTo>
                <a:lnTo>
                  <a:pt x="1216444" y="384479"/>
                </a:lnTo>
                <a:lnTo>
                  <a:pt x="1255481" y="371115"/>
                </a:lnTo>
                <a:lnTo>
                  <a:pt x="1278366" y="336954"/>
                </a:lnTo>
                <a:lnTo>
                  <a:pt x="1280528" y="320395"/>
                </a:lnTo>
                <a:lnTo>
                  <a:pt x="1280504" y="64071"/>
                </a:lnTo>
                <a:lnTo>
                  <a:pt x="1267163" y="25397"/>
                </a:lnTo>
                <a:lnTo>
                  <a:pt x="1233003" y="2516"/>
                </a:lnTo>
                <a:lnTo>
                  <a:pt x="1216444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49DE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object 12"/>
          <p:cNvSpPr/>
          <p:nvPr/>
        </p:nvSpPr>
        <p:spPr>
          <a:xfrm>
            <a:off x="1427760" y="1954800"/>
            <a:ext cx="25308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object 13"/>
          <p:cNvPicPr/>
          <p:nvPr/>
        </p:nvPicPr>
        <p:blipFill>
          <a:blip r:embed="rId3"/>
          <a:stretch/>
        </p:blipFill>
        <p:spPr>
          <a:xfrm>
            <a:off x="873720" y="2360160"/>
            <a:ext cx="1360080" cy="46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object 14"/>
          <p:cNvSpPr/>
          <p:nvPr/>
        </p:nvSpPr>
        <p:spPr>
          <a:xfrm>
            <a:off x="913680" y="2377080"/>
            <a:ext cx="1280520" cy="384480"/>
          </a:xfrm>
          <a:custGeom>
            <a:avLst/>
            <a:gdLst>
              <a:gd name="textAreaLeft" fmla="*/ 0 w 1280520"/>
              <a:gd name="textAreaRight" fmla="*/ 1280880 w 1280520"/>
              <a:gd name="textAreaTop" fmla="*/ 0 h 384480"/>
              <a:gd name="textAreaBottom" fmla="*/ 384840 h 384480"/>
            </a:gdLst>
            <a:ahLst/>
            <a:cxnLst/>
            <a:rect l="textAreaLeft" t="textAreaTop" r="textAreaRight" b="textAreaBottom"/>
            <a:pathLst>
              <a:path w="1280795" h="384810">
                <a:moveTo>
                  <a:pt x="64439" y="0"/>
                </a:moveTo>
                <a:lnTo>
                  <a:pt x="25402" y="13357"/>
                </a:lnTo>
                <a:lnTo>
                  <a:pt x="2524" y="47517"/>
                </a:lnTo>
                <a:lnTo>
                  <a:pt x="0" y="320395"/>
                </a:lnTo>
                <a:lnTo>
                  <a:pt x="540" y="328743"/>
                </a:lnTo>
                <a:lnTo>
                  <a:pt x="18743" y="365620"/>
                </a:lnTo>
                <a:lnTo>
                  <a:pt x="55734" y="383939"/>
                </a:lnTo>
                <a:lnTo>
                  <a:pt x="64084" y="384479"/>
                </a:lnTo>
                <a:lnTo>
                  <a:pt x="1216444" y="384479"/>
                </a:lnTo>
                <a:lnTo>
                  <a:pt x="1255481" y="371115"/>
                </a:lnTo>
                <a:lnTo>
                  <a:pt x="1278366" y="336954"/>
                </a:lnTo>
                <a:lnTo>
                  <a:pt x="1280528" y="320395"/>
                </a:lnTo>
                <a:lnTo>
                  <a:pt x="1280504" y="64071"/>
                </a:lnTo>
                <a:lnTo>
                  <a:pt x="1267163" y="25397"/>
                </a:lnTo>
                <a:lnTo>
                  <a:pt x="1233003" y="2516"/>
                </a:lnTo>
                <a:lnTo>
                  <a:pt x="64439" y="0"/>
                </a:lnTo>
                <a:close/>
              </a:path>
            </a:pathLst>
          </a:custGeom>
          <a:solidFill>
            <a:srgbClr val="A78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object 15"/>
          <p:cNvSpPr/>
          <p:nvPr/>
        </p:nvSpPr>
        <p:spPr>
          <a:xfrm>
            <a:off x="1278720" y="2457720"/>
            <a:ext cx="55152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M3/M4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object 16"/>
          <p:cNvPicPr/>
          <p:nvPr/>
        </p:nvPicPr>
        <p:blipFill>
          <a:blip r:embed="rId4"/>
          <a:stretch/>
        </p:blipFill>
        <p:spPr>
          <a:xfrm>
            <a:off x="873720" y="2863080"/>
            <a:ext cx="1360080" cy="46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object 17"/>
          <p:cNvSpPr/>
          <p:nvPr/>
        </p:nvSpPr>
        <p:spPr>
          <a:xfrm>
            <a:off x="913680" y="2880000"/>
            <a:ext cx="1280520" cy="384480"/>
          </a:xfrm>
          <a:custGeom>
            <a:avLst/>
            <a:gdLst>
              <a:gd name="textAreaLeft" fmla="*/ 0 w 1280520"/>
              <a:gd name="textAreaRight" fmla="*/ 1280880 w 1280520"/>
              <a:gd name="textAreaTop" fmla="*/ 0 h 384480"/>
              <a:gd name="textAreaBottom" fmla="*/ 384840 h 384480"/>
            </a:gdLst>
            <a:ahLst/>
            <a:cxnLst/>
            <a:rect l="textAreaLeft" t="textAreaTop" r="textAreaRight" b="textAreaBottom"/>
            <a:pathLst>
              <a:path w="1280795" h="384810">
                <a:moveTo>
                  <a:pt x="64439" y="0"/>
                </a:moveTo>
                <a:lnTo>
                  <a:pt x="25402" y="13357"/>
                </a:lnTo>
                <a:lnTo>
                  <a:pt x="2524" y="47517"/>
                </a:lnTo>
                <a:lnTo>
                  <a:pt x="0" y="320395"/>
                </a:lnTo>
                <a:lnTo>
                  <a:pt x="540" y="328743"/>
                </a:lnTo>
                <a:lnTo>
                  <a:pt x="18743" y="365620"/>
                </a:lnTo>
                <a:lnTo>
                  <a:pt x="18859" y="365753"/>
                </a:lnTo>
                <a:lnTo>
                  <a:pt x="55734" y="383939"/>
                </a:lnTo>
                <a:lnTo>
                  <a:pt x="64084" y="384479"/>
                </a:lnTo>
                <a:lnTo>
                  <a:pt x="1216444" y="384479"/>
                </a:lnTo>
                <a:lnTo>
                  <a:pt x="1255481" y="371115"/>
                </a:lnTo>
                <a:lnTo>
                  <a:pt x="1278366" y="336954"/>
                </a:lnTo>
                <a:lnTo>
                  <a:pt x="1280528" y="320395"/>
                </a:lnTo>
                <a:lnTo>
                  <a:pt x="1280504" y="64071"/>
                </a:lnTo>
                <a:lnTo>
                  <a:pt x="1267163" y="25397"/>
                </a:lnTo>
                <a:lnTo>
                  <a:pt x="1233003" y="2516"/>
                </a:lnTo>
                <a:lnTo>
                  <a:pt x="1216444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FB91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 18"/>
          <p:cNvSpPr/>
          <p:nvPr/>
        </p:nvSpPr>
        <p:spPr>
          <a:xfrm>
            <a:off x="1427760" y="2960640"/>
            <a:ext cx="25308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object 19"/>
          <p:cNvPicPr/>
          <p:nvPr/>
        </p:nvPicPr>
        <p:blipFill>
          <a:blip r:embed="rId5"/>
          <a:stretch/>
        </p:blipFill>
        <p:spPr>
          <a:xfrm>
            <a:off x="873720" y="3366000"/>
            <a:ext cx="1360080" cy="46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object 20"/>
          <p:cNvSpPr/>
          <p:nvPr/>
        </p:nvSpPr>
        <p:spPr>
          <a:xfrm>
            <a:off x="913680" y="3382920"/>
            <a:ext cx="1280520" cy="384480"/>
          </a:xfrm>
          <a:custGeom>
            <a:avLst/>
            <a:gdLst>
              <a:gd name="textAreaLeft" fmla="*/ 0 w 1280520"/>
              <a:gd name="textAreaRight" fmla="*/ 1280880 w 1280520"/>
              <a:gd name="textAreaTop" fmla="*/ 0 h 384480"/>
              <a:gd name="textAreaBottom" fmla="*/ 384840 h 384480"/>
            </a:gdLst>
            <a:ahLst/>
            <a:cxnLst/>
            <a:rect l="textAreaLeft" t="textAreaTop" r="textAreaRight" b="textAreaBottom"/>
            <a:pathLst>
              <a:path w="1280795" h="384810">
                <a:moveTo>
                  <a:pt x="64439" y="0"/>
                </a:moveTo>
                <a:lnTo>
                  <a:pt x="25402" y="13357"/>
                </a:lnTo>
                <a:lnTo>
                  <a:pt x="2524" y="47517"/>
                </a:lnTo>
                <a:lnTo>
                  <a:pt x="0" y="320395"/>
                </a:lnTo>
                <a:lnTo>
                  <a:pt x="540" y="328743"/>
                </a:lnTo>
                <a:lnTo>
                  <a:pt x="18743" y="365620"/>
                </a:lnTo>
                <a:lnTo>
                  <a:pt x="18859" y="365753"/>
                </a:lnTo>
                <a:lnTo>
                  <a:pt x="55734" y="383939"/>
                </a:lnTo>
                <a:lnTo>
                  <a:pt x="64084" y="384479"/>
                </a:lnTo>
                <a:lnTo>
                  <a:pt x="1216444" y="384479"/>
                </a:lnTo>
                <a:lnTo>
                  <a:pt x="1255481" y="371115"/>
                </a:lnTo>
                <a:lnTo>
                  <a:pt x="1278366" y="336954"/>
                </a:lnTo>
                <a:lnTo>
                  <a:pt x="1280528" y="320395"/>
                </a:lnTo>
                <a:lnTo>
                  <a:pt x="1280504" y="64071"/>
                </a:lnTo>
                <a:lnTo>
                  <a:pt x="1267163" y="25397"/>
                </a:lnTo>
                <a:lnTo>
                  <a:pt x="1233003" y="2516"/>
                </a:lnTo>
                <a:lnTo>
                  <a:pt x="1216444" y="355"/>
                </a:lnTo>
                <a:lnTo>
                  <a:pt x="64439" y="0"/>
                </a:lnTo>
                <a:close/>
              </a:path>
            </a:pathLst>
          </a:custGeom>
          <a:solidFill>
            <a:srgbClr val="F77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object 21"/>
          <p:cNvSpPr/>
          <p:nvPr/>
        </p:nvSpPr>
        <p:spPr>
          <a:xfrm>
            <a:off x="1427760" y="3463560"/>
            <a:ext cx="25308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object 22"/>
          <p:cNvSpPr/>
          <p:nvPr/>
        </p:nvSpPr>
        <p:spPr>
          <a:xfrm>
            <a:off x="2545920" y="1422360"/>
            <a:ext cx="4239360" cy="23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Application</a:t>
            </a:r>
            <a:r>
              <a:rPr lang="en-US" sz="18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8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Frontend,</a:t>
            </a:r>
            <a:r>
              <a:rPr lang="en-US" sz="18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Backend</a:t>
            </a:r>
            <a:r>
              <a:rPr lang="en-US" sz="18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&amp;</a:t>
            </a:r>
            <a:r>
              <a:rPr lang="en-US" sz="18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Database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800"/>
              </a:spcBef>
            </a:pPr>
            <a:r>
              <a:rPr lang="en-US" sz="18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Testing</a:t>
            </a:r>
            <a:r>
              <a:rPr lang="en-US" sz="18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8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Pytest</a:t>
            </a:r>
            <a:r>
              <a:rPr lang="en-US" sz="18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Quality</a:t>
            </a:r>
            <a:r>
              <a:rPr lang="en-US" sz="18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Gates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83000"/>
              </a:lnSpc>
            </a:pP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Docker</a:t>
            </a:r>
            <a:r>
              <a:rPr lang="en-US" sz="18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8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Containerization</a:t>
            </a:r>
            <a:r>
              <a:rPr lang="en-US" sz="18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&amp;</a:t>
            </a:r>
            <a:r>
              <a:rPr lang="en-US" sz="18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Compose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CI/CD</a:t>
            </a:r>
            <a:r>
              <a:rPr lang="en-US" sz="18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8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GitHub</a:t>
            </a:r>
            <a:r>
              <a:rPr lang="en-US" sz="18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Actions</a:t>
            </a:r>
            <a:r>
              <a:rPr lang="en-US" sz="18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Pipeline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DevSecOps</a:t>
            </a:r>
            <a:r>
              <a:rPr lang="en-US" sz="18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8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Security</a:t>
            </a:r>
            <a:r>
              <a:rPr lang="en-US" sz="18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Auditing</a:t>
            </a:r>
            <a:r>
              <a:rPr lang="en-US" sz="18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&amp;</a:t>
            </a:r>
            <a:r>
              <a:rPr lang="en-US" sz="18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Trivy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object 23"/>
          <p:cNvGrpSpPr/>
          <p:nvPr/>
        </p:nvGrpSpPr>
        <p:grpSpPr>
          <a:xfrm>
            <a:off x="873720" y="3868920"/>
            <a:ext cx="1360080" cy="2475360"/>
            <a:chOff x="873720" y="3868920"/>
            <a:chExt cx="1360080" cy="2475360"/>
          </a:xfrm>
        </p:grpSpPr>
        <p:pic>
          <p:nvPicPr>
            <p:cNvPr id="72" name="object 24"/>
            <p:cNvPicPr/>
            <p:nvPr/>
          </p:nvPicPr>
          <p:blipFill>
            <a:blip r:embed="rId6"/>
            <a:stretch/>
          </p:blipFill>
          <p:spPr>
            <a:xfrm>
              <a:off x="873720" y="3868920"/>
              <a:ext cx="136008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3" name="object 25"/>
            <p:cNvSpPr/>
            <p:nvPr/>
          </p:nvSpPr>
          <p:spPr>
            <a:xfrm>
              <a:off x="913680" y="3885840"/>
              <a:ext cx="1280520" cy="384480"/>
            </a:xfrm>
            <a:custGeom>
              <a:avLst/>
              <a:gdLst>
                <a:gd name="textAreaLeft" fmla="*/ 0 w 1280520"/>
                <a:gd name="textAreaRight" fmla="*/ 1280880 w 128052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807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216444" y="384479"/>
                  </a:lnTo>
                  <a:lnTo>
                    <a:pt x="1255481" y="371115"/>
                  </a:lnTo>
                  <a:lnTo>
                    <a:pt x="1278366" y="336954"/>
                  </a:lnTo>
                  <a:lnTo>
                    <a:pt x="1280528" y="320395"/>
                  </a:lnTo>
                  <a:lnTo>
                    <a:pt x="1280504" y="64071"/>
                  </a:lnTo>
                  <a:lnTo>
                    <a:pt x="1267163" y="25397"/>
                  </a:lnTo>
                  <a:lnTo>
                    <a:pt x="1233003" y="2516"/>
                  </a:lnTo>
                  <a:lnTo>
                    <a:pt x="12164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2CD3B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4" name="object 26"/>
            <p:cNvPicPr/>
            <p:nvPr/>
          </p:nvPicPr>
          <p:blipFill>
            <a:blip r:embed="rId7"/>
            <a:stretch/>
          </p:blipFill>
          <p:spPr>
            <a:xfrm>
              <a:off x="873720" y="4371840"/>
              <a:ext cx="136008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5" name="object 27"/>
            <p:cNvSpPr/>
            <p:nvPr/>
          </p:nvSpPr>
          <p:spPr>
            <a:xfrm>
              <a:off x="913680" y="4388760"/>
              <a:ext cx="1280520" cy="384480"/>
            </a:xfrm>
            <a:custGeom>
              <a:avLst/>
              <a:gdLst>
                <a:gd name="textAreaLeft" fmla="*/ 0 w 1280520"/>
                <a:gd name="textAreaRight" fmla="*/ 1280880 w 128052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807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216444" y="384479"/>
                  </a:lnTo>
                  <a:lnTo>
                    <a:pt x="1255481" y="371115"/>
                  </a:lnTo>
                  <a:lnTo>
                    <a:pt x="1278366" y="336954"/>
                  </a:lnTo>
                  <a:lnTo>
                    <a:pt x="1280528" y="320395"/>
                  </a:lnTo>
                  <a:lnTo>
                    <a:pt x="1280504" y="64071"/>
                  </a:lnTo>
                  <a:lnTo>
                    <a:pt x="1267163" y="25397"/>
                  </a:lnTo>
                  <a:lnTo>
                    <a:pt x="1233003" y="2516"/>
                  </a:lnTo>
                  <a:lnTo>
                    <a:pt x="12164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6" name="object 28"/>
            <p:cNvPicPr/>
            <p:nvPr/>
          </p:nvPicPr>
          <p:blipFill>
            <a:blip r:embed="rId8"/>
            <a:stretch/>
          </p:blipFill>
          <p:spPr>
            <a:xfrm>
              <a:off x="873720" y="4874760"/>
              <a:ext cx="136008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7" name="object 29"/>
            <p:cNvSpPr/>
            <p:nvPr/>
          </p:nvSpPr>
          <p:spPr>
            <a:xfrm>
              <a:off x="913680" y="4891680"/>
              <a:ext cx="1280520" cy="384480"/>
            </a:xfrm>
            <a:custGeom>
              <a:avLst/>
              <a:gdLst>
                <a:gd name="textAreaLeft" fmla="*/ 0 w 1280520"/>
                <a:gd name="textAreaRight" fmla="*/ 1280880 w 128052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807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216444" y="384479"/>
                  </a:lnTo>
                  <a:lnTo>
                    <a:pt x="1255481" y="371115"/>
                  </a:lnTo>
                  <a:lnTo>
                    <a:pt x="1278366" y="336954"/>
                  </a:lnTo>
                  <a:lnTo>
                    <a:pt x="1280528" y="320395"/>
                  </a:lnTo>
                  <a:lnTo>
                    <a:pt x="1280504" y="64071"/>
                  </a:lnTo>
                  <a:lnTo>
                    <a:pt x="1267163" y="25397"/>
                  </a:lnTo>
                  <a:lnTo>
                    <a:pt x="1233003" y="2516"/>
                  </a:lnTo>
                  <a:lnTo>
                    <a:pt x="12164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49DE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8" name="object 30"/>
            <p:cNvPicPr/>
            <p:nvPr/>
          </p:nvPicPr>
          <p:blipFill>
            <a:blip r:embed="rId9"/>
            <a:stretch/>
          </p:blipFill>
          <p:spPr>
            <a:xfrm>
              <a:off x="873720" y="5377680"/>
              <a:ext cx="136008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" name="object 31"/>
            <p:cNvSpPr/>
            <p:nvPr/>
          </p:nvSpPr>
          <p:spPr>
            <a:xfrm>
              <a:off x="913680" y="5394600"/>
              <a:ext cx="1280520" cy="384480"/>
            </a:xfrm>
            <a:custGeom>
              <a:avLst/>
              <a:gdLst>
                <a:gd name="textAreaLeft" fmla="*/ 0 w 1280520"/>
                <a:gd name="textAreaRight" fmla="*/ 1280880 w 128052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807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216444" y="384479"/>
                  </a:lnTo>
                  <a:lnTo>
                    <a:pt x="1255481" y="371115"/>
                  </a:lnTo>
                  <a:lnTo>
                    <a:pt x="1278366" y="336954"/>
                  </a:lnTo>
                  <a:lnTo>
                    <a:pt x="1280528" y="320395"/>
                  </a:lnTo>
                  <a:lnTo>
                    <a:pt x="1280504" y="64071"/>
                  </a:lnTo>
                  <a:lnTo>
                    <a:pt x="1267163" y="25397"/>
                  </a:lnTo>
                  <a:lnTo>
                    <a:pt x="1233003" y="2516"/>
                  </a:lnTo>
                  <a:lnTo>
                    <a:pt x="12164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B91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0" name="object 32"/>
            <p:cNvPicPr/>
            <p:nvPr/>
          </p:nvPicPr>
          <p:blipFill>
            <a:blip r:embed="rId10"/>
            <a:stretch/>
          </p:blipFill>
          <p:spPr>
            <a:xfrm>
              <a:off x="873720" y="5880600"/>
              <a:ext cx="1360080" cy="463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1" name="object 33"/>
            <p:cNvSpPr/>
            <p:nvPr/>
          </p:nvSpPr>
          <p:spPr>
            <a:xfrm>
              <a:off x="913680" y="5897520"/>
              <a:ext cx="1280520" cy="384480"/>
            </a:xfrm>
            <a:custGeom>
              <a:avLst/>
              <a:gdLst>
                <a:gd name="textAreaLeft" fmla="*/ 0 w 1280520"/>
                <a:gd name="textAreaRight" fmla="*/ 1280880 w 1280520"/>
                <a:gd name="textAreaTop" fmla="*/ 0 h 384480"/>
                <a:gd name="textAreaBottom" fmla="*/ 384840 h 384480"/>
              </a:gdLst>
              <a:ahLst/>
              <a:cxnLst/>
              <a:rect l="textAreaLeft" t="textAreaTop" r="textAreaRight" b="textAreaBottom"/>
              <a:pathLst>
                <a:path w="12807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216444" y="384479"/>
                  </a:lnTo>
                  <a:lnTo>
                    <a:pt x="1255481" y="371115"/>
                  </a:lnTo>
                  <a:lnTo>
                    <a:pt x="1278366" y="336954"/>
                  </a:lnTo>
                  <a:lnTo>
                    <a:pt x="1280528" y="320395"/>
                  </a:lnTo>
                  <a:lnTo>
                    <a:pt x="1280504" y="64071"/>
                  </a:lnTo>
                  <a:lnTo>
                    <a:pt x="1267163" y="25397"/>
                  </a:lnTo>
                  <a:lnTo>
                    <a:pt x="123300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A78A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82" name="object 34"/>
          <p:cNvGraphicFramePr/>
          <p:nvPr/>
        </p:nvGraphicFramePr>
        <p:xfrm>
          <a:off x="1259640" y="3848400"/>
          <a:ext cx="5544360" cy="2399760"/>
        </p:xfrm>
        <a:graphic>
          <a:graphicData uri="http://schemas.openxmlformats.org/drawingml/2006/table">
            <a:tbl>
              <a:tblPr/>
              <a:tblGrid>
                <a:gridCol w="928080"/>
                <a:gridCol w="4616280"/>
              </a:tblGrid>
              <a:tr h="502200">
                <a:tc>
                  <a:txBody>
                    <a:bodyPr lIns="0" tIns="1299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1026"/>
                        </a:spcBef>
                      </a:pPr>
                      <a:r>
                        <a:rPr lang="en-US" sz="1300" b="1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M7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2996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100800" rIns="0" bIns="0" anchor="t">
                      <a:noAutofit/>
                    </a:bodyPr>
                    <a:p>
                      <a:pPr marL="370080">
                        <a:lnSpc>
                          <a:spcPct val="100000"/>
                        </a:lnSpc>
                        <a:spcBef>
                          <a:spcPts val="794"/>
                        </a:spcBef>
                      </a:pPr>
                      <a:r>
                        <a:rPr lang="en-US" sz="1800" b="0" u="none" spc="-3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Terraform</a:t>
                      </a:r>
                      <a:r>
                        <a:rPr lang="en-US" sz="1800" b="0" u="none" spc="-40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r>
                        <a:rPr lang="en-US" sz="1800" b="0" u="none" spc="-34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AWS</a:t>
                      </a:r>
                      <a:r>
                        <a:rPr lang="en-US" sz="1800" b="0" u="none" spc="-40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pc="-1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Infrastructure</a:t>
                      </a:r>
                      <a:r>
                        <a:rPr lang="en-US" sz="1800" b="0" u="none" spc="-34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as</a:t>
                      </a:r>
                      <a:r>
                        <a:rPr lang="en-US" sz="1800" b="0" u="none" spc="-34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pc="-20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Code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008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2920">
                <a:tc>
                  <a:txBody>
                    <a:bodyPr lIns="0" tIns="1299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1026"/>
                        </a:spcBef>
                      </a:pPr>
                      <a:r>
                        <a:rPr lang="en-US" sz="1300" b="1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2996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100800" rIns="0" bIns="0" anchor="t">
                      <a:noAutofit/>
                    </a:bodyPr>
                    <a:p>
                      <a:pPr marL="370080">
                        <a:lnSpc>
                          <a:spcPct val="100000"/>
                        </a:lnSpc>
                        <a:spcBef>
                          <a:spcPts val="794"/>
                        </a:spcBef>
                      </a:pPr>
                      <a:r>
                        <a:rPr lang="en-US" sz="1800" b="0" u="none" spc="-1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Kubernetes</a:t>
                      </a:r>
                      <a:r>
                        <a:rPr lang="en-US" sz="1800" b="0" u="none" spc="-5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&amp;</a:t>
                      </a:r>
                      <a:r>
                        <a:rPr lang="en-US" sz="1800" b="0" u="none" spc="-5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Helm</a:t>
                      </a:r>
                      <a:r>
                        <a:rPr lang="en-US" sz="1800" b="0" u="none" spc="-5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pc="-1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Orchestration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008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2200">
                <a:tc>
                  <a:txBody>
                    <a:bodyPr lIns="0" tIns="1299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1026"/>
                        </a:spcBef>
                      </a:pPr>
                      <a:r>
                        <a:rPr lang="en-US" sz="1300" b="1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M9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2996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100800" rIns="0" bIns="0" anchor="t">
                      <a:noAutofit/>
                    </a:bodyPr>
                    <a:p>
                      <a:pPr marL="370080">
                        <a:lnSpc>
                          <a:spcPct val="100000"/>
                        </a:lnSpc>
                        <a:spcBef>
                          <a:spcPts val="794"/>
                        </a:spcBef>
                      </a:pP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Observability</a:t>
                      </a:r>
                      <a:r>
                        <a:rPr lang="en-US" sz="1800" b="0" u="none" spc="-45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r>
                        <a:rPr lang="en-US" sz="1800" b="0" u="none" spc="-40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pc="-1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Prometheus</a:t>
                      </a:r>
                      <a:r>
                        <a:rPr lang="en-US" sz="1800" b="0" u="none" spc="-40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&amp;</a:t>
                      </a:r>
                      <a:r>
                        <a:rPr lang="en-US" sz="1800" b="0" u="none" spc="-40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pc="-1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Grafana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008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2200">
                <a:tc>
                  <a:txBody>
                    <a:bodyPr lIns="0" tIns="1299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1026"/>
                        </a:spcBef>
                      </a:pPr>
                      <a:r>
                        <a:rPr lang="en-US" sz="1300" b="1" u="none" spc="-26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M10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2996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100800" rIns="0" bIns="0" anchor="t">
                      <a:noAutofit/>
                    </a:bodyPr>
                    <a:p>
                      <a:pPr marL="370080">
                        <a:lnSpc>
                          <a:spcPct val="100000"/>
                        </a:lnSpc>
                        <a:spcBef>
                          <a:spcPts val="794"/>
                        </a:spcBef>
                      </a:pPr>
                      <a:r>
                        <a:rPr lang="en-US" sz="1800" b="0" u="none" spc="-20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Troubleshooting </a:t>
                      </a:r>
                      <a:r>
                        <a:rPr lang="en-US" sz="1800" b="0" u="none" spc="-26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Lab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008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240">
                <a:tc>
                  <a:txBody>
                    <a:bodyPr lIns="0" tIns="129960" r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1026"/>
                        </a:spcBef>
                      </a:pPr>
                      <a:r>
                        <a:rPr lang="en-US" sz="1300" b="1" u="none" spc="-11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GitOps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2996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tIns="100800" rIns="0" bIns="0" anchor="t">
                      <a:noAutofit/>
                    </a:bodyPr>
                    <a:p>
                      <a:pPr marL="370080">
                        <a:lnSpc>
                          <a:spcPct val="100000"/>
                        </a:lnSpc>
                        <a:spcBef>
                          <a:spcPts val="794"/>
                        </a:spcBef>
                      </a:pPr>
                      <a:r>
                        <a:rPr lang="en-US" sz="1800" b="0" u="none" spc="-1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Continuous</a:t>
                      </a:r>
                      <a:r>
                        <a:rPr lang="en-US" sz="1800" b="0" u="none" spc="-45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Delivery</a:t>
                      </a:r>
                      <a:r>
                        <a:rPr lang="en-US" sz="1800" b="0" u="none" spc="-40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r>
                        <a:rPr lang="en-US" sz="1800" b="0" u="none" spc="-45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 </a:t>
                      </a:r>
                      <a:r>
                        <a:rPr lang="en-US" sz="1800" b="0" u="none" spc="-11" strike="noStrike">
                          <a:solidFill>
                            <a:srgbClr val="CBD4E1"/>
                          </a:solidFill>
                          <a:effectLst/>
                          <a:uFillTx/>
                          <a:latin typeface="Calibri"/>
                        </a:rPr>
                        <a:t>ArgoCD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1008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A78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08560" y="225360"/>
            <a:ext cx="5065200" cy="67140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4200" b="0" u="none" spc="-1763" strike="noStrike">
                <a:solidFill>
                  <a:schemeClr val="lt1"/>
                </a:solidFill>
                <a:effectLst/>
                <a:uFillTx/>
                <a:latin typeface="Gill Sans MT"/>
              </a:rPr>
              <a:t>🏗️</a:t>
            </a:r>
            <a:r>
              <a:rPr lang="en-US" sz="4200" b="0" u="none" spc="6" strike="noStrike">
                <a:solidFill>
                  <a:schemeClr val="lt1"/>
                </a:solidFill>
                <a:effectLst/>
                <a:uFillTx/>
                <a:latin typeface="Gill Sans MT"/>
              </a:rPr>
              <a:t> </a:t>
            </a:r>
            <a:r>
              <a:rPr lang="en-US" sz="3600" b="1" u="sng" spc="-20" strike="noStrike">
                <a:solidFill>
                  <a:schemeClr val="lt1"/>
                </a:solidFill>
                <a:effectLst/>
                <a:uFill>
                  <a:solidFill>
                    <a:srgbClr val="A78AFA"/>
                  </a:solidFill>
                </a:uFill>
                <a:latin typeface="Calibri"/>
              </a:rPr>
              <a:t>Architecture</a:t>
            </a:r>
            <a:r>
              <a:rPr lang="en-US" sz="3600" b="1" u="sng" spc="-136" strike="noStrike">
                <a:solidFill>
                  <a:schemeClr val="lt1"/>
                </a:solidFill>
                <a:effectLst/>
                <a:uFill>
                  <a:solidFill>
                    <a:srgbClr val="A78AFA"/>
                  </a:solidFill>
                </a:uFill>
                <a:latin typeface="Calibri"/>
              </a:rPr>
              <a:t> </a:t>
            </a:r>
            <a:r>
              <a:rPr lang="en-US" sz="3600" b="1" u="sng" spc="-11" strike="noStrike">
                <a:solidFill>
                  <a:schemeClr val="lt1"/>
                </a:solidFill>
                <a:effectLst/>
                <a:uFill>
                  <a:solidFill>
                    <a:srgbClr val="A78AFA"/>
                  </a:solidFill>
                </a:uFill>
                <a:latin typeface="Calibri"/>
              </a:rPr>
              <a:t>Overview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5" name="object 4"/>
          <p:cNvPicPr/>
          <p:nvPr/>
        </p:nvPicPr>
        <p:blipFill>
          <a:blip r:embed="rId1"/>
          <a:stretch/>
        </p:blipFill>
        <p:spPr>
          <a:xfrm>
            <a:off x="1550880" y="897480"/>
            <a:ext cx="4358880" cy="115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6" name="object 5"/>
          <p:cNvGrpSpPr/>
          <p:nvPr/>
        </p:nvGrpSpPr>
        <p:grpSpPr>
          <a:xfrm>
            <a:off x="864360" y="1710720"/>
            <a:ext cx="10157400" cy="967320"/>
            <a:chOff x="864360" y="1710720"/>
            <a:chExt cx="10157400" cy="967320"/>
          </a:xfrm>
        </p:grpSpPr>
        <p:pic>
          <p:nvPicPr>
            <p:cNvPr id="87" name="object 6"/>
            <p:cNvPicPr/>
            <p:nvPr/>
          </p:nvPicPr>
          <p:blipFill>
            <a:blip r:embed="rId2"/>
            <a:stretch/>
          </p:blipFill>
          <p:spPr>
            <a:xfrm>
              <a:off x="864360" y="1710720"/>
              <a:ext cx="1015740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" name="object 7"/>
            <p:cNvSpPr/>
            <p:nvPr/>
          </p:nvSpPr>
          <p:spPr>
            <a:xfrm>
              <a:off x="914040" y="173736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80">
                  <a:moveTo>
                    <a:pt x="991331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0826" y="778984"/>
                  </a:lnTo>
                  <a:lnTo>
                    <a:pt x="10929" y="779290"/>
                  </a:lnTo>
                  <a:lnTo>
                    <a:pt x="42381" y="826285"/>
                  </a:lnTo>
                  <a:lnTo>
                    <a:pt x="89327" y="857589"/>
                  </a:lnTo>
                  <a:lnTo>
                    <a:pt x="144716" y="868679"/>
                  </a:lnTo>
                  <a:lnTo>
                    <a:pt x="9913670" y="868324"/>
                  </a:lnTo>
                  <a:lnTo>
                    <a:pt x="9969009" y="857383"/>
                  </a:lnTo>
                  <a:lnTo>
                    <a:pt x="10016005" y="825930"/>
                  </a:lnTo>
                  <a:lnTo>
                    <a:pt x="10047309" y="778984"/>
                  </a:lnTo>
                  <a:lnTo>
                    <a:pt x="10058375" y="723963"/>
                  </a:lnTo>
                  <a:lnTo>
                    <a:pt x="10058400" y="723595"/>
                  </a:lnTo>
                  <a:lnTo>
                    <a:pt x="10058031" y="144716"/>
                  </a:lnTo>
                  <a:lnTo>
                    <a:pt x="10047101" y="89389"/>
                  </a:lnTo>
                  <a:lnTo>
                    <a:pt x="10015645" y="42394"/>
                  </a:lnTo>
                  <a:lnTo>
                    <a:pt x="9968704" y="11090"/>
                  </a:lnTo>
                  <a:lnTo>
                    <a:pt x="9932319" y="1266"/>
                  </a:lnTo>
                  <a:lnTo>
                    <a:pt x="991331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object 8"/>
            <p:cNvSpPr/>
            <p:nvPr/>
          </p:nvSpPr>
          <p:spPr>
            <a:xfrm>
              <a:off x="914040" y="173736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80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9913315" y="0"/>
                  </a:lnTo>
                  <a:lnTo>
                    <a:pt x="9968704" y="11090"/>
                  </a:lnTo>
                  <a:lnTo>
                    <a:pt x="10015645" y="42394"/>
                  </a:lnTo>
                  <a:lnTo>
                    <a:pt x="10047101" y="89389"/>
                  </a:lnTo>
                  <a:lnTo>
                    <a:pt x="10058031" y="144716"/>
                  </a:lnTo>
                  <a:lnTo>
                    <a:pt x="10058400" y="723595"/>
                  </a:lnTo>
                  <a:lnTo>
                    <a:pt x="10057133" y="742599"/>
                  </a:lnTo>
                  <a:lnTo>
                    <a:pt x="10053402" y="761130"/>
                  </a:lnTo>
                  <a:lnTo>
                    <a:pt x="10028460" y="811720"/>
                  </a:lnTo>
                  <a:lnTo>
                    <a:pt x="9986035" y="848880"/>
                  </a:lnTo>
                  <a:lnTo>
                    <a:pt x="9932525" y="867107"/>
                  </a:lnTo>
                  <a:lnTo>
                    <a:pt x="144716" y="868679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37BD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object 9"/>
          <p:cNvSpPr/>
          <p:nvPr/>
        </p:nvSpPr>
        <p:spPr>
          <a:xfrm>
            <a:off x="1265760" y="1842480"/>
            <a:ext cx="11077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Git</a:t>
            </a:r>
            <a:r>
              <a:rPr lang="en-US" sz="1800" b="1" u="none" spc="-31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37BDF7"/>
                </a:solidFill>
                <a:effectLst/>
                <a:uFillTx/>
                <a:latin typeface="Calibri"/>
              </a:rPr>
              <a:t>Commit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bject 10"/>
          <p:cNvSpPr/>
          <p:nvPr/>
        </p:nvSpPr>
        <p:spPr>
          <a:xfrm>
            <a:off x="3734640" y="1842480"/>
            <a:ext cx="17064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Developer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pushes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code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to</a:t>
            </a:r>
            <a:r>
              <a:rPr lang="en-US" sz="14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GitHub</a:t>
            </a:r>
            <a:r>
              <a:rPr lang="en-US" sz="14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repository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object 35"/>
          <p:cNvSpPr/>
          <p:nvPr/>
        </p:nvSpPr>
        <p:spPr>
          <a:xfrm>
            <a:off x="6015960" y="2363760"/>
            <a:ext cx="2206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505" strike="noStrike">
                <a:solidFill>
                  <a:srgbClr val="94A3B8"/>
                </a:solidFill>
                <a:effectLst/>
                <a:uFillTx/>
                <a:latin typeface="Arial Narrow"/>
              </a:rPr>
              <a:t>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3" name="object 11"/>
          <p:cNvGrpSpPr/>
          <p:nvPr/>
        </p:nvGrpSpPr>
        <p:grpSpPr>
          <a:xfrm>
            <a:off x="864360" y="2716560"/>
            <a:ext cx="10157400" cy="967320"/>
            <a:chOff x="864360" y="2716560"/>
            <a:chExt cx="10157400" cy="967320"/>
          </a:xfrm>
        </p:grpSpPr>
        <p:pic>
          <p:nvPicPr>
            <p:cNvPr id="94" name="object 12"/>
            <p:cNvPicPr/>
            <p:nvPr/>
          </p:nvPicPr>
          <p:blipFill>
            <a:blip r:embed="rId3"/>
            <a:stretch/>
          </p:blipFill>
          <p:spPr>
            <a:xfrm>
              <a:off x="864360" y="2716560"/>
              <a:ext cx="1015740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" name="object 13"/>
            <p:cNvSpPr/>
            <p:nvPr/>
          </p:nvSpPr>
          <p:spPr>
            <a:xfrm>
              <a:off x="914040" y="274320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79">
                  <a:moveTo>
                    <a:pt x="991331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0826" y="778984"/>
                  </a:lnTo>
                  <a:lnTo>
                    <a:pt x="10929" y="779290"/>
                  </a:lnTo>
                  <a:lnTo>
                    <a:pt x="42381" y="826285"/>
                  </a:lnTo>
                  <a:lnTo>
                    <a:pt x="89327" y="857589"/>
                  </a:lnTo>
                  <a:lnTo>
                    <a:pt x="144716" y="868680"/>
                  </a:lnTo>
                  <a:lnTo>
                    <a:pt x="9913670" y="868324"/>
                  </a:lnTo>
                  <a:lnTo>
                    <a:pt x="9969009" y="857383"/>
                  </a:lnTo>
                  <a:lnTo>
                    <a:pt x="10016005" y="825930"/>
                  </a:lnTo>
                  <a:lnTo>
                    <a:pt x="10047309" y="778984"/>
                  </a:lnTo>
                  <a:lnTo>
                    <a:pt x="10058375" y="723963"/>
                  </a:lnTo>
                  <a:lnTo>
                    <a:pt x="10058400" y="723595"/>
                  </a:lnTo>
                  <a:lnTo>
                    <a:pt x="10058031" y="144716"/>
                  </a:lnTo>
                  <a:lnTo>
                    <a:pt x="10047101" y="89389"/>
                  </a:lnTo>
                  <a:lnTo>
                    <a:pt x="10015645" y="42394"/>
                  </a:lnTo>
                  <a:lnTo>
                    <a:pt x="9968704" y="11090"/>
                  </a:lnTo>
                  <a:lnTo>
                    <a:pt x="9932319" y="1266"/>
                  </a:lnTo>
                  <a:lnTo>
                    <a:pt x="991331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object 14"/>
            <p:cNvSpPr/>
            <p:nvPr/>
          </p:nvSpPr>
          <p:spPr>
            <a:xfrm>
              <a:off x="914040" y="274320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9913315" y="0"/>
                  </a:lnTo>
                  <a:lnTo>
                    <a:pt x="9968704" y="11090"/>
                  </a:lnTo>
                  <a:lnTo>
                    <a:pt x="10015645" y="42394"/>
                  </a:lnTo>
                  <a:lnTo>
                    <a:pt x="10047101" y="89389"/>
                  </a:lnTo>
                  <a:lnTo>
                    <a:pt x="10058031" y="144716"/>
                  </a:lnTo>
                  <a:lnTo>
                    <a:pt x="10058400" y="723595"/>
                  </a:lnTo>
                  <a:lnTo>
                    <a:pt x="10057133" y="742599"/>
                  </a:lnTo>
                  <a:lnTo>
                    <a:pt x="10053402" y="761130"/>
                  </a:lnTo>
                  <a:lnTo>
                    <a:pt x="10028460" y="811720"/>
                  </a:lnTo>
                  <a:lnTo>
                    <a:pt x="9986035" y="848880"/>
                  </a:lnTo>
                  <a:lnTo>
                    <a:pt x="9932525" y="867107"/>
                  </a:lnTo>
                  <a:lnTo>
                    <a:pt x="144716" y="868680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object 15"/>
          <p:cNvSpPr/>
          <p:nvPr/>
        </p:nvSpPr>
        <p:spPr>
          <a:xfrm>
            <a:off x="1265760" y="2848320"/>
            <a:ext cx="13863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CI/CD</a:t>
            </a:r>
            <a:r>
              <a:rPr lang="en-US" sz="1800" b="1" u="none" spc="-26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49DE7F"/>
                </a:solidFill>
                <a:effectLst/>
                <a:uFillTx/>
                <a:latin typeface="Calibri"/>
              </a:rPr>
              <a:t>Pipeline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bject 16"/>
          <p:cNvSpPr/>
          <p:nvPr/>
        </p:nvSpPr>
        <p:spPr>
          <a:xfrm>
            <a:off x="3734640" y="2848320"/>
            <a:ext cx="20098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Pytest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Vite</a:t>
            </a:r>
            <a:r>
              <a:rPr lang="en-US" sz="14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Build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Docker Trivy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Scan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GHCR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Push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object 36"/>
          <p:cNvSpPr/>
          <p:nvPr/>
        </p:nvSpPr>
        <p:spPr>
          <a:xfrm>
            <a:off x="6015960" y="3369600"/>
            <a:ext cx="2206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505" strike="noStrike">
                <a:solidFill>
                  <a:srgbClr val="94A3B8"/>
                </a:solidFill>
                <a:effectLst/>
                <a:uFillTx/>
                <a:latin typeface="Arial Narrow"/>
              </a:rPr>
              <a:t>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object 17"/>
          <p:cNvGrpSpPr/>
          <p:nvPr/>
        </p:nvGrpSpPr>
        <p:grpSpPr>
          <a:xfrm>
            <a:off x="864360" y="3722400"/>
            <a:ext cx="10157400" cy="966960"/>
            <a:chOff x="864360" y="3722400"/>
            <a:chExt cx="10157400" cy="966960"/>
          </a:xfrm>
        </p:grpSpPr>
        <p:pic>
          <p:nvPicPr>
            <p:cNvPr id="101" name="object 18"/>
            <p:cNvPicPr/>
            <p:nvPr/>
          </p:nvPicPr>
          <p:blipFill>
            <a:blip r:embed="rId4"/>
            <a:stretch/>
          </p:blipFill>
          <p:spPr>
            <a:xfrm>
              <a:off x="864360" y="3722400"/>
              <a:ext cx="10157400" cy="966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2" name="object 19"/>
            <p:cNvSpPr/>
            <p:nvPr/>
          </p:nvSpPr>
          <p:spPr>
            <a:xfrm>
              <a:off x="914040" y="374904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79">
                  <a:moveTo>
                    <a:pt x="991331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0826" y="778984"/>
                  </a:lnTo>
                  <a:lnTo>
                    <a:pt x="10929" y="779290"/>
                  </a:lnTo>
                  <a:lnTo>
                    <a:pt x="42381" y="826285"/>
                  </a:lnTo>
                  <a:lnTo>
                    <a:pt x="89327" y="857589"/>
                  </a:lnTo>
                  <a:lnTo>
                    <a:pt x="144716" y="868680"/>
                  </a:lnTo>
                  <a:lnTo>
                    <a:pt x="9913670" y="868324"/>
                  </a:lnTo>
                  <a:lnTo>
                    <a:pt x="9969009" y="857383"/>
                  </a:lnTo>
                  <a:lnTo>
                    <a:pt x="10016005" y="825930"/>
                  </a:lnTo>
                  <a:lnTo>
                    <a:pt x="10047309" y="778984"/>
                  </a:lnTo>
                  <a:lnTo>
                    <a:pt x="10058375" y="723963"/>
                  </a:lnTo>
                  <a:lnTo>
                    <a:pt x="10058400" y="723595"/>
                  </a:lnTo>
                  <a:lnTo>
                    <a:pt x="10058031" y="144716"/>
                  </a:lnTo>
                  <a:lnTo>
                    <a:pt x="10047101" y="89389"/>
                  </a:lnTo>
                  <a:lnTo>
                    <a:pt x="10015645" y="42394"/>
                  </a:lnTo>
                  <a:lnTo>
                    <a:pt x="9968704" y="11090"/>
                  </a:lnTo>
                  <a:lnTo>
                    <a:pt x="9932319" y="1266"/>
                  </a:lnTo>
                  <a:lnTo>
                    <a:pt x="991331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object 20"/>
            <p:cNvSpPr/>
            <p:nvPr/>
          </p:nvSpPr>
          <p:spPr>
            <a:xfrm>
              <a:off x="914040" y="374904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9913315" y="0"/>
                  </a:lnTo>
                  <a:lnTo>
                    <a:pt x="9968704" y="11090"/>
                  </a:lnTo>
                  <a:lnTo>
                    <a:pt x="10015645" y="42394"/>
                  </a:lnTo>
                  <a:lnTo>
                    <a:pt x="10047101" y="89389"/>
                  </a:lnTo>
                  <a:lnTo>
                    <a:pt x="10058031" y="144716"/>
                  </a:lnTo>
                  <a:lnTo>
                    <a:pt x="10058400" y="723595"/>
                  </a:lnTo>
                  <a:lnTo>
                    <a:pt x="10057133" y="742599"/>
                  </a:lnTo>
                  <a:lnTo>
                    <a:pt x="10053402" y="761130"/>
                  </a:lnTo>
                  <a:lnTo>
                    <a:pt x="10028460" y="811720"/>
                  </a:lnTo>
                  <a:lnTo>
                    <a:pt x="9986035" y="848880"/>
                  </a:lnTo>
                  <a:lnTo>
                    <a:pt x="9932525" y="867107"/>
                  </a:lnTo>
                  <a:lnTo>
                    <a:pt x="144716" y="868680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FB91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object 21"/>
          <p:cNvSpPr/>
          <p:nvPr/>
        </p:nvSpPr>
        <p:spPr>
          <a:xfrm>
            <a:off x="1265760" y="3854160"/>
            <a:ext cx="13305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pc="-11" strike="noStrike">
                <a:solidFill>
                  <a:srgbClr val="FB913B"/>
                </a:solidFill>
                <a:effectLst/>
                <a:uFillTx/>
                <a:latin typeface="Calibri"/>
              </a:rPr>
              <a:t>Infrastructure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22"/>
          <p:cNvSpPr/>
          <p:nvPr/>
        </p:nvSpPr>
        <p:spPr>
          <a:xfrm>
            <a:off x="3734640" y="3854160"/>
            <a:ext cx="19504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Terraform</a:t>
            </a:r>
            <a:r>
              <a:rPr lang="en-US" sz="14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on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AWS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VPC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Subnets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NAT</a:t>
            </a:r>
            <a:r>
              <a:rPr lang="en-US" sz="14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EKS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bject 37"/>
          <p:cNvSpPr/>
          <p:nvPr/>
        </p:nvSpPr>
        <p:spPr>
          <a:xfrm>
            <a:off x="6015960" y="4375440"/>
            <a:ext cx="2206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505" strike="noStrike">
                <a:solidFill>
                  <a:srgbClr val="94A3B8"/>
                </a:solidFill>
                <a:effectLst/>
                <a:uFillTx/>
                <a:latin typeface="Arial Narrow"/>
              </a:rPr>
              <a:t>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" name="object 23"/>
          <p:cNvGrpSpPr/>
          <p:nvPr/>
        </p:nvGrpSpPr>
        <p:grpSpPr>
          <a:xfrm>
            <a:off x="864360" y="4728240"/>
            <a:ext cx="10157400" cy="967320"/>
            <a:chOff x="864360" y="4728240"/>
            <a:chExt cx="10157400" cy="967320"/>
          </a:xfrm>
        </p:grpSpPr>
        <p:pic>
          <p:nvPicPr>
            <p:cNvPr id="108" name="object 24"/>
            <p:cNvPicPr/>
            <p:nvPr/>
          </p:nvPicPr>
          <p:blipFill>
            <a:blip r:embed="rId5"/>
            <a:stretch/>
          </p:blipFill>
          <p:spPr>
            <a:xfrm>
              <a:off x="864360" y="4728240"/>
              <a:ext cx="1015740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9" name="object 25"/>
            <p:cNvSpPr/>
            <p:nvPr/>
          </p:nvSpPr>
          <p:spPr>
            <a:xfrm>
              <a:off x="914040" y="475488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79">
                  <a:moveTo>
                    <a:pt x="991331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0826" y="778984"/>
                  </a:lnTo>
                  <a:lnTo>
                    <a:pt x="29926" y="812076"/>
                  </a:lnTo>
                  <a:lnTo>
                    <a:pt x="72351" y="849236"/>
                  </a:lnTo>
                  <a:lnTo>
                    <a:pt x="125712" y="867413"/>
                  </a:lnTo>
                  <a:lnTo>
                    <a:pt x="144716" y="868680"/>
                  </a:lnTo>
                  <a:lnTo>
                    <a:pt x="9913670" y="868324"/>
                  </a:lnTo>
                  <a:lnTo>
                    <a:pt x="9969009" y="857383"/>
                  </a:lnTo>
                  <a:lnTo>
                    <a:pt x="10016005" y="825930"/>
                  </a:lnTo>
                  <a:lnTo>
                    <a:pt x="10047309" y="778984"/>
                  </a:lnTo>
                  <a:lnTo>
                    <a:pt x="10058375" y="723963"/>
                  </a:lnTo>
                  <a:lnTo>
                    <a:pt x="10058400" y="723595"/>
                  </a:lnTo>
                  <a:lnTo>
                    <a:pt x="10058031" y="144716"/>
                  </a:lnTo>
                  <a:lnTo>
                    <a:pt x="10047101" y="89389"/>
                  </a:lnTo>
                  <a:lnTo>
                    <a:pt x="10015645" y="42394"/>
                  </a:lnTo>
                  <a:lnTo>
                    <a:pt x="9968704" y="11090"/>
                  </a:lnTo>
                  <a:lnTo>
                    <a:pt x="9932319" y="1266"/>
                  </a:lnTo>
                  <a:lnTo>
                    <a:pt x="991331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object 26"/>
            <p:cNvSpPr/>
            <p:nvPr/>
          </p:nvSpPr>
          <p:spPr>
            <a:xfrm>
              <a:off x="914040" y="475488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9913315" y="0"/>
                  </a:lnTo>
                  <a:lnTo>
                    <a:pt x="9968704" y="11090"/>
                  </a:lnTo>
                  <a:lnTo>
                    <a:pt x="10015645" y="42394"/>
                  </a:lnTo>
                  <a:lnTo>
                    <a:pt x="10047101" y="89389"/>
                  </a:lnTo>
                  <a:lnTo>
                    <a:pt x="10058031" y="144716"/>
                  </a:lnTo>
                  <a:lnTo>
                    <a:pt x="10058400" y="723595"/>
                  </a:lnTo>
                  <a:lnTo>
                    <a:pt x="10057133" y="742599"/>
                  </a:lnTo>
                  <a:lnTo>
                    <a:pt x="10053402" y="761130"/>
                  </a:lnTo>
                  <a:lnTo>
                    <a:pt x="10028460" y="811720"/>
                  </a:lnTo>
                  <a:lnTo>
                    <a:pt x="9986035" y="848880"/>
                  </a:lnTo>
                  <a:lnTo>
                    <a:pt x="9932525" y="867107"/>
                  </a:lnTo>
                  <a:lnTo>
                    <a:pt x="144716" y="868680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A78AF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" name="object 27"/>
          <p:cNvSpPr/>
          <p:nvPr/>
        </p:nvSpPr>
        <p:spPr>
          <a:xfrm>
            <a:off x="1265760" y="4860000"/>
            <a:ext cx="11070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pc="-11" strike="noStrike">
                <a:solidFill>
                  <a:srgbClr val="A78AFA"/>
                </a:solidFill>
                <a:effectLst/>
                <a:uFillTx/>
                <a:latin typeface="Calibri"/>
              </a:rPr>
              <a:t>Kubernetes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object 28"/>
          <p:cNvSpPr/>
          <p:nvPr/>
        </p:nvSpPr>
        <p:spPr>
          <a:xfrm>
            <a:off x="3734640" y="4860000"/>
            <a:ext cx="210528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Helm</a:t>
            </a:r>
            <a:r>
              <a:rPr lang="en-US" sz="14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Chart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Ingress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HPA</a:t>
            </a:r>
            <a:r>
              <a:rPr lang="en-US" sz="14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NetworkPolicies</a:t>
            </a:r>
            <a:r>
              <a:rPr lang="en-US" sz="14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•</a:t>
            </a:r>
            <a:r>
              <a:rPr lang="en-US" sz="14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PVC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object 38"/>
          <p:cNvSpPr/>
          <p:nvPr/>
        </p:nvSpPr>
        <p:spPr>
          <a:xfrm>
            <a:off x="6015960" y="5381280"/>
            <a:ext cx="2206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0" u="none" spc="-505" strike="noStrike">
                <a:solidFill>
                  <a:srgbClr val="94A3B8"/>
                </a:solidFill>
                <a:effectLst/>
                <a:uFillTx/>
                <a:latin typeface="Arial Narrow"/>
              </a:rPr>
              <a:t>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4" name="object 29"/>
          <p:cNvGrpSpPr/>
          <p:nvPr/>
        </p:nvGrpSpPr>
        <p:grpSpPr>
          <a:xfrm>
            <a:off x="864360" y="5734080"/>
            <a:ext cx="10157400" cy="967320"/>
            <a:chOff x="864360" y="5734080"/>
            <a:chExt cx="10157400" cy="967320"/>
          </a:xfrm>
        </p:grpSpPr>
        <p:pic>
          <p:nvPicPr>
            <p:cNvPr id="115" name="object 30"/>
            <p:cNvPicPr/>
            <p:nvPr/>
          </p:nvPicPr>
          <p:blipFill>
            <a:blip r:embed="rId6"/>
            <a:stretch/>
          </p:blipFill>
          <p:spPr>
            <a:xfrm>
              <a:off x="864360" y="5734080"/>
              <a:ext cx="1015740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6" name="object 31"/>
            <p:cNvSpPr/>
            <p:nvPr/>
          </p:nvSpPr>
          <p:spPr>
            <a:xfrm>
              <a:off x="914040" y="576072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79">
                  <a:moveTo>
                    <a:pt x="991331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0826" y="778984"/>
                  </a:lnTo>
                  <a:lnTo>
                    <a:pt x="29926" y="812076"/>
                  </a:lnTo>
                  <a:lnTo>
                    <a:pt x="72351" y="849236"/>
                  </a:lnTo>
                  <a:lnTo>
                    <a:pt x="125712" y="867413"/>
                  </a:lnTo>
                  <a:lnTo>
                    <a:pt x="144716" y="868679"/>
                  </a:lnTo>
                  <a:lnTo>
                    <a:pt x="9913670" y="868324"/>
                  </a:lnTo>
                  <a:lnTo>
                    <a:pt x="9969009" y="857383"/>
                  </a:lnTo>
                  <a:lnTo>
                    <a:pt x="10016005" y="825930"/>
                  </a:lnTo>
                  <a:lnTo>
                    <a:pt x="10047309" y="778984"/>
                  </a:lnTo>
                  <a:lnTo>
                    <a:pt x="10058375" y="723963"/>
                  </a:lnTo>
                  <a:lnTo>
                    <a:pt x="10058400" y="723595"/>
                  </a:lnTo>
                  <a:lnTo>
                    <a:pt x="10058031" y="144716"/>
                  </a:lnTo>
                  <a:lnTo>
                    <a:pt x="10047101" y="89389"/>
                  </a:lnTo>
                  <a:lnTo>
                    <a:pt x="10015645" y="42394"/>
                  </a:lnTo>
                  <a:lnTo>
                    <a:pt x="9968704" y="11090"/>
                  </a:lnTo>
                  <a:lnTo>
                    <a:pt x="9932319" y="1266"/>
                  </a:lnTo>
                  <a:lnTo>
                    <a:pt x="991331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object 32"/>
            <p:cNvSpPr/>
            <p:nvPr/>
          </p:nvSpPr>
          <p:spPr>
            <a:xfrm>
              <a:off x="914040" y="5760720"/>
              <a:ext cx="10058040" cy="868320"/>
            </a:xfrm>
            <a:custGeom>
              <a:avLst/>
              <a:gdLst>
                <a:gd name="textAreaLeft" fmla="*/ 0 w 10058040"/>
                <a:gd name="textAreaRight" fmla="*/ 10058400 w 1005804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1005840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9913315" y="0"/>
                  </a:lnTo>
                  <a:lnTo>
                    <a:pt x="9968704" y="11090"/>
                  </a:lnTo>
                  <a:lnTo>
                    <a:pt x="10015645" y="42394"/>
                  </a:lnTo>
                  <a:lnTo>
                    <a:pt x="10047101" y="89389"/>
                  </a:lnTo>
                  <a:lnTo>
                    <a:pt x="10058031" y="144716"/>
                  </a:lnTo>
                  <a:lnTo>
                    <a:pt x="10058400" y="723595"/>
                  </a:lnTo>
                  <a:lnTo>
                    <a:pt x="10057133" y="742599"/>
                  </a:lnTo>
                  <a:lnTo>
                    <a:pt x="10053402" y="761130"/>
                  </a:lnTo>
                  <a:lnTo>
                    <a:pt x="10028460" y="811720"/>
                  </a:lnTo>
                  <a:lnTo>
                    <a:pt x="9986035" y="848880"/>
                  </a:lnTo>
                  <a:lnTo>
                    <a:pt x="9932525" y="867107"/>
                  </a:lnTo>
                  <a:lnTo>
                    <a:pt x="144716" y="868679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2CD3B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object 33"/>
          <p:cNvSpPr/>
          <p:nvPr/>
        </p:nvSpPr>
        <p:spPr>
          <a:xfrm>
            <a:off x="1265760" y="5865840"/>
            <a:ext cx="12855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pc="-11" strike="noStrike">
                <a:solidFill>
                  <a:srgbClr val="2CD3BE"/>
                </a:solidFill>
                <a:effectLst/>
                <a:uFillTx/>
                <a:latin typeface="Calibri"/>
              </a:rPr>
              <a:t>Observability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object 34"/>
          <p:cNvSpPr/>
          <p:nvPr/>
        </p:nvSpPr>
        <p:spPr>
          <a:xfrm>
            <a:off x="3734640" y="5865840"/>
            <a:ext cx="15573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Prometheus</a:t>
            </a:r>
            <a:r>
              <a:rPr lang="en-US" sz="14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Scraping Grafana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Dashboards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2CD3B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08560" y="225360"/>
            <a:ext cx="4043880" cy="67140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4200" b="0" u="none" spc="-1763" strike="noStrike">
                <a:solidFill>
                  <a:schemeClr val="lt1"/>
                </a:solidFill>
                <a:effectLst/>
                <a:uFillTx/>
                <a:latin typeface="Gill Sans MT"/>
              </a:rPr>
              <a:t>🛠️</a:t>
            </a:r>
            <a:r>
              <a:rPr lang="en-US" sz="4200" b="0" u="none" spc="6" strike="noStrike">
                <a:solidFill>
                  <a:schemeClr val="lt1"/>
                </a:solidFill>
                <a:effectLst/>
                <a:uFillTx/>
                <a:latin typeface="Gill Sans MT"/>
              </a:rPr>
              <a:t> </a:t>
            </a:r>
            <a:r>
              <a:rPr lang="en-US" sz="3600" b="1" u="sng" spc="-40" strike="noStrike">
                <a:solidFill>
                  <a:schemeClr val="lt1"/>
                </a:solidFill>
                <a:effectLst/>
                <a:uFill>
                  <a:solidFill>
                    <a:srgbClr val="2CD3BE"/>
                  </a:solidFill>
                </a:uFill>
                <a:latin typeface="Calibri"/>
              </a:rPr>
              <a:t>Technology</a:t>
            </a:r>
            <a:r>
              <a:rPr lang="en-US" sz="3600" b="1" u="sng" spc="-111" strike="noStrike">
                <a:solidFill>
                  <a:schemeClr val="lt1"/>
                </a:solidFill>
                <a:effectLst/>
                <a:uFill>
                  <a:solidFill>
                    <a:srgbClr val="2CD3BE"/>
                  </a:solidFill>
                </a:uFill>
                <a:latin typeface="Calibri"/>
              </a:rPr>
              <a:t> </a:t>
            </a:r>
            <a:r>
              <a:rPr lang="en-US" sz="3600" b="1" u="sng" spc="-11" strike="noStrike">
                <a:solidFill>
                  <a:schemeClr val="lt1"/>
                </a:solidFill>
                <a:effectLst/>
                <a:uFill>
                  <a:solidFill>
                    <a:srgbClr val="2CD3BE"/>
                  </a:solidFill>
                </a:uFill>
                <a:latin typeface="Calibri"/>
              </a:rPr>
              <a:t>Stack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22" name="object 4"/>
          <p:cNvPicPr/>
          <p:nvPr/>
        </p:nvPicPr>
        <p:blipFill>
          <a:blip r:embed="rId1"/>
          <a:stretch/>
        </p:blipFill>
        <p:spPr>
          <a:xfrm>
            <a:off x="1514160" y="897120"/>
            <a:ext cx="3389760" cy="117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3" name="object 5"/>
          <p:cNvGrpSpPr/>
          <p:nvPr/>
        </p:nvGrpSpPr>
        <p:grpSpPr>
          <a:xfrm>
            <a:off x="681480" y="1253520"/>
            <a:ext cx="5402520" cy="967320"/>
            <a:chOff x="681480" y="1253520"/>
            <a:chExt cx="5402520" cy="967320"/>
          </a:xfrm>
        </p:grpSpPr>
        <p:pic>
          <p:nvPicPr>
            <p:cNvPr id="124" name="object 6"/>
            <p:cNvPicPr/>
            <p:nvPr/>
          </p:nvPicPr>
          <p:blipFill>
            <a:blip r:embed="rId2"/>
            <a:stretch/>
          </p:blipFill>
          <p:spPr>
            <a:xfrm>
              <a:off x="681480" y="125352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5" name="object 7"/>
            <p:cNvSpPr/>
            <p:nvPr/>
          </p:nvSpPr>
          <p:spPr>
            <a:xfrm>
              <a:off x="731160" y="128016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80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0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4813" y="761130"/>
                  </a:lnTo>
                  <a:lnTo>
                    <a:pt x="4857" y="761353"/>
                  </a:lnTo>
                  <a:lnTo>
                    <a:pt x="10826" y="778984"/>
                  </a:lnTo>
                  <a:lnTo>
                    <a:pt x="10929" y="779290"/>
                  </a:lnTo>
                  <a:lnTo>
                    <a:pt x="42381" y="826285"/>
                  </a:lnTo>
                  <a:lnTo>
                    <a:pt x="89327" y="857589"/>
                  </a:lnTo>
                  <a:lnTo>
                    <a:pt x="144716" y="868679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302211" y="742810"/>
                  </a:lnTo>
                  <a:lnTo>
                    <a:pt x="5302253" y="742599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object 8"/>
            <p:cNvSpPr/>
            <p:nvPr/>
          </p:nvSpPr>
          <p:spPr>
            <a:xfrm>
              <a:off x="731160" y="128016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80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79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37BD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object 9"/>
          <p:cNvSpPr/>
          <p:nvPr/>
        </p:nvSpPr>
        <p:spPr>
          <a:xfrm>
            <a:off x="1082880" y="1295640"/>
            <a:ext cx="2765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37BDF7"/>
                </a:solidFill>
                <a:effectLst/>
                <a:uFillTx/>
                <a:latin typeface="Calibri"/>
              </a:rPr>
              <a:t>Frontend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React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18,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Vite,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Vanilla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CSS,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Nginx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1.27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Alpine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8" name="object 30"/>
          <p:cNvGrpSpPr/>
          <p:nvPr/>
        </p:nvGrpSpPr>
        <p:grpSpPr>
          <a:xfrm>
            <a:off x="6350760" y="1253520"/>
            <a:ext cx="5402520" cy="967320"/>
            <a:chOff x="6350760" y="1253520"/>
            <a:chExt cx="5402520" cy="967320"/>
          </a:xfrm>
        </p:grpSpPr>
        <p:pic>
          <p:nvPicPr>
            <p:cNvPr id="129" name="object 31"/>
            <p:cNvPicPr/>
            <p:nvPr/>
          </p:nvPicPr>
          <p:blipFill>
            <a:blip r:embed="rId3"/>
            <a:stretch/>
          </p:blipFill>
          <p:spPr>
            <a:xfrm>
              <a:off x="6350760" y="125352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0" name="object 32"/>
            <p:cNvSpPr/>
            <p:nvPr/>
          </p:nvSpPr>
          <p:spPr>
            <a:xfrm>
              <a:off x="6400440" y="128016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80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19431" y="796315"/>
                  </a:lnTo>
                  <a:lnTo>
                    <a:pt x="56591" y="838740"/>
                  </a:lnTo>
                  <a:lnTo>
                    <a:pt x="107181" y="863682"/>
                  </a:lnTo>
                  <a:lnTo>
                    <a:pt x="144716" y="868679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object 33"/>
            <p:cNvSpPr/>
            <p:nvPr/>
          </p:nvSpPr>
          <p:spPr>
            <a:xfrm>
              <a:off x="6400440" y="128016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80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79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37BD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2" name="object 34"/>
          <p:cNvSpPr/>
          <p:nvPr/>
        </p:nvSpPr>
        <p:spPr>
          <a:xfrm>
            <a:off x="6752160" y="1295640"/>
            <a:ext cx="22654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37BDF7"/>
                </a:solidFill>
                <a:effectLst/>
                <a:uFillTx/>
                <a:latin typeface="Calibri"/>
              </a:rPr>
              <a:t>CI/CD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GitHub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Actions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(Matrix,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Trivy,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GHCR)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object 10"/>
          <p:cNvGrpSpPr/>
          <p:nvPr/>
        </p:nvGrpSpPr>
        <p:grpSpPr>
          <a:xfrm>
            <a:off x="681480" y="2259360"/>
            <a:ext cx="5402520" cy="967320"/>
            <a:chOff x="681480" y="2259360"/>
            <a:chExt cx="5402520" cy="967320"/>
          </a:xfrm>
        </p:grpSpPr>
        <p:pic>
          <p:nvPicPr>
            <p:cNvPr id="134" name="object 11"/>
            <p:cNvPicPr/>
            <p:nvPr/>
          </p:nvPicPr>
          <p:blipFill>
            <a:blip r:embed="rId4"/>
            <a:stretch/>
          </p:blipFill>
          <p:spPr>
            <a:xfrm>
              <a:off x="681480" y="225936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5" name="object 12"/>
            <p:cNvSpPr/>
            <p:nvPr/>
          </p:nvSpPr>
          <p:spPr>
            <a:xfrm>
              <a:off x="731160" y="228600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80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0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4813" y="761130"/>
                  </a:lnTo>
                  <a:lnTo>
                    <a:pt x="4857" y="761353"/>
                  </a:lnTo>
                  <a:lnTo>
                    <a:pt x="10826" y="778984"/>
                  </a:lnTo>
                  <a:lnTo>
                    <a:pt x="10929" y="779290"/>
                  </a:lnTo>
                  <a:lnTo>
                    <a:pt x="42381" y="826285"/>
                  </a:lnTo>
                  <a:lnTo>
                    <a:pt x="89327" y="857589"/>
                  </a:lnTo>
                  <a:lnTo>
                    <a:pt x="144716" y="868679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302211" y="742810"/>
                  </a:lnTo>
                  <a:lnTo>
                    <a:pt x="5302253" y="742599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object 13"/>
            <p:cNvSpPr/>
            <p:nvPr/>
          </p:nvSpPr>
          <p:spPr>
            <a:xfrm>
              <a:off x="731160" y="228600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80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79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" name="object 14"/>
          <p:cNvSpPr/>
          <p:nvPr/>
        </p:nvSpPr>
        <p:spPr>
          <a:xfrm>
            <a:off x="1082880" y="2301480"/>
            <a:ext cx="34812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49DE7F"/>
                </a:solidFill>
                <a:effectLst/>
                <a:uFillTx/>
                <a:latin typeface="Calibri"/>
              </a:rPr>
              <a:t>Backend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Python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3.12,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FastAPI,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SQLAlchemy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2.0,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Alembic,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Uvicorn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8" name="object 35"/>
          <p:cNvGrpSpPr/>
          <p:nvPr/>
        </p:nvGrpSpPr>
        <p:grpSpPr>
          <a:xfrm>
            <a:off x="6350760" y="2259360"/>
            <a:ext cx="5402520" cy="967320"/>
            <a:chOff x="6350760" y="2259360"/>
            <a:chExt cx="5402520" cy="967320"/>
          </a:xfrm>
        </p:grpSpPr>
        <p:pic>
          <p:nvPicPr>
            <p:cNvPr id="139" name="object 36"/>
            <p:cNvPicPr/>
            <p:nvPr/>
          </p:nvPicPr>
          <p:blipFill>
            <a:blip r:embed="rId5"/>
            <a:stretch/>
          </p:blipFill>
          <p:spPr>
            <a:xfrm>
              <a:off x="6350760" y="225936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0" name="object 37"/>
            <p:cNvSpPr/>
            <p:nvPr/>
          </p:nvSpPr>
          <p:spPr>
            <a:xfrm>
              <a:off x="6400440" y="228600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80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19431" y="796315"/>
                  </a:lnTo>
                  <a:lnTo>
                    <a:pt x="56591" y="838740"/>
                  </a:lnTo>
                  <a:lnTo>
                    <a:pt x="107181" y="863682"/>
                  </a:lnTo>
                  <a:lnTo>
                    <a:pt x="144716" y="868679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object 38"/>
            <p:cNvSpPr/>
            <p:nvPr/>
          </p:nvSpPr>
          <p:spPr>
            <a:xfrm>
              <a:off x="6400440" y="228600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80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79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2" name="object 39"/>
          <p:cNvSpPr/>
          <p:nvPr/>
        </p:nvSpPr>
        <p:spPr>
          <a:xfrm>
            <a:off x="6752160" y="2301480"/>
            <a:ext cx="32443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49DE7F"/>
                </a:solidFill>
                <a:effectLst/>
                <a:uFillTx/>
                <a:latin typeface="Calibri"/>
              </a:rPr>
              <a:t>Infrastructure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Terraform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≥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1.5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VPC,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Subnets,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IGW,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65" strike="noStrike">
                <a:solidFill>
                  <a:srgbClr val="CBD4E1"/>
                </a:solidFill>
                <a:effectLst/>
                <a:uFillTx/>
                <a:latin typeface="Calibri"/>
              </a:rPr>
              <a:t>NAT,</a:t>
            </a:r>
            <a:r>
              <a:rPr lang="en-US" sz="12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IAM,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EKS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" name="object 15"/>
          <p:cNvGrpSpPr/>
          <p:nvPr/>
        </p:nvGrpSpPr>
        <p:grpSpPr>
          <a:xfrm>
            <a:off x="681480" y="3265200"/>
            <a:ext cx="5402520" cy="967320"/>
            <a:chOff x="681480" y="3265200"/>
            <a:chExt cx="5402520" cy="967320"/>
          </a:xfrm>
        </p:grpSpPr>
        <p:pic>
          <p:nvPicPr>
            <p:cNvPr id="144" name="object 16"/>
            <p:cNvPicPr/>
            <p:nvPr/>
          </p:nvPicPr>
          <p:blipFill>
            <a:blip r:embed="rId6"/>
            <a:stretch/>
          </p:blipFill>
          <p:spPr>
            <a:xfrm>
              <a:off x="681480" y="326520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5" name="object 17"/>
            <p:cNvSpPr/>
            <p:nvPr/>
          </p:nvSpPr>
          <p:spPr>
            <a:xfrm>
              <a:off x="731160" y="329184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0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19430" y="796315"/>
                  </a:lnTo>
                  <a:lnTo>
                    <a:pt x="56591" y="838740"/>
                  </a:lnTo>
                  <a:lnTo>
                    <a:pt x="107181" y="863682"/>
                  </a:lnTo>
                  <a:lnTo>
                    <a:pt x="144716" y="868680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302211" y="742810"/>
                  </a:lnTo>
                  <a:lnTo>
                    <a:pt x="5302253" y="742599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object 18"/>
            <p:cNvSpPr/>
            <p:nvPr/>
          </p:nvSpPr>
          <p:spPr>
            <a:xfrm>
              <a:off x="731160" y="329184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80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A78AF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" name="object 19"/>
          <p:cNvSpPr/>
          <p:nvPr/>
        </p:nvSpPr>
        <p:spPr>
          <a:xfrm>
            <a:off x="1082880" y="3307320"/>
            <a:ext cx="1928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A78AFA"/>
                </a:solidFill>
                <a:effectLst/>
                <a:uFillTx/>
                <a:latin typeface="Calibri"/>
              </a:rPr>
              <a:t>Database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PostgreSQL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16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Alpine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with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PVC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" name="object 40"/>
          <p:cNvGrpSpPr/>
          <p:nvPr/>
        </p:nvGrpSpPr>
        <p:grpSpPr>
          <a:xfrm>
            <a:off x="6350760" y="3265200"/>
            <a:ext cx="5402520" cy="967320"/>
            <a:chOff x="6350760" y="3265200"/>
            <a:chExt cx="5402520" cy="967320"/>
          </a:xfrm>
        </p:grpSpPr>
        <p:pic>
          <p:nvPicPr>
            <p:cNvPr id="149" name="object 41"/>
            <p:cNvPicPr/>
            <p:nvPr/>
          </p:nvPicPr>
          <p:blipFill>
            <a:blip r:embed="rId7"/>
            <a:stretch/>
          </p:blipFill>
          <p:spPr>
            <a:xfrm>
              <a:off x="6350760" y="326520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0" name="object 42"/>
            <p:cNvSpPr/>
            <p:nvPr/>
          </p:nvSpPr>
          <p:spPr>
            <a:xfrm>
              <a:off x="6400440" y="329184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19431" y="796315"/>
                  </a:lnTo>
                  <a:lnTo>
                    <a:pt x="56591" y="838740"/>
                  </a:lnTo>
                  <a:lnTo>
                    <a:pt x="107181" y="863682"/>
                  </a:lnTo>
                  <a:lnTo>
                    <a:pt x="144716" y="868680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object 43"/>
            <p:cNvSpPr/>
            <p:nvPr/>
          </p:nvSpPr>
          <p:spPr>
            <a:xfrm>
              <a:off x="6400440" y="329184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80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A78AF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" name="object 44"/>
          <p:cNvSpPr/>
          <p:nvPr/>
        </p:nvSpPr>
        <p:spPr>
          <a:xfrm>
            <a:off x="6752160" y="3307320"/>
            <a:ext cx="3895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A78AFA"/>
                </a:solidFill>
                <a:effectLst/>
                <a:uFillTx/>
                <a:latin typeface="Calibri"/>
              </a:rPr>
              <a:t>Kubernetes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Helm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v3,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Deployments,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Services,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Ingress,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HPA,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NetworkPolicies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object 20"/>
          <p:cNvGrpSpPr/>
          <p:nvPr/>
        </p:nvGrpSpPr>
        <p:grpSpPr>
          <a:xfrm>
            <a:off x="681480" y="4271040"/>
            <a:ext cx="5402520" cy="967320"/>
            <a:chOff x="681480" y="4271040"/>
            <a:chExt cx="5402520" cy="967320"/>
          </a:xfrm>
        </p:grpSpPr>
        <p:pic>
          <p:nvPicPr>
            <p:cNvPr id="154" name="object 21"/>
            <p:cNvPicPr/>
            <p:nvPr/>
          </p:nvPicPr>
          <p:blipFill>
            <a:blip r:embed="rId8"/>
            <a:stretch/>
          </p:blipFill>
          <p:spPr>
            <a:xfrm>
              <a:off x="681480" y="427104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5" name="object 22"/>
            <p:cNvSpPr/>
            <p:nvPr/>
          </p:nvSpPr>
          <p:spPr>
            <a:xfrm>
              <a:off x="731160" y="429768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0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0826" y="778984"/>
                  </a:lnTo>
                  <a:lnTo>
                    <a:pt x="29926" y="812076"/>
                  </a:lnTo>
                  <a:lnTo>
                    <a:pt x="72351" y="849236"/>
                  </a:lnTo>
                  <a:lnTo>
                    <a:pt x="125712" y="867413"/>
                  </a:lnTo>
                  <a:lnTo>
                    <a:pt x="144716" y="868680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298446" y="761353"/>
                  </a:lnTo>
                  <a:lnTo>
                    <a:pt x="5298522" y="761130"/>
                  </a:lnTo>
                  <a:lnTo>
                    <a:pt x="5302211" y="742810"/>
                  </a:lnTo>
                  <a:lnTo>
                    <a:pt x="5302253" y="742599"/>
                  </a:lnTo>
                  <a:lnTo>
                    <a:pt x="5303495" y="723963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object 23"/>
            <p:cNvSpPr/>
            <p:nvPr/>
          </p:nvSpPr>
          <p:spPr>
            <a:xfrm>
              <a:off x="731160" y="429768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80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FB91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object 24"/>
          <p:cNvSpPr/>
          <p:nvPr/>
        </p:nvSpPr>
        <p:spPr>
          <a:xfrm>
            <a:off x="1082880" y="4313160"/>
            <a:ext cx="30330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FB913B"/>
                </a:solidFill>
                <a:effectLst/>
                <a:uFillTx/>
                <a:latin typeface="Calibri"/>
              </a:rPr>
              <a:t>Testing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Pytest,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Pytest-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Asyncio,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HTTPX,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SQLite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in-memory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8" name="object 45"/>
          <p:cNvGrpSpPr/>
          <p:nvPr/>
        </p:nvGrpSpPr>
        <p:grpSpPr>
          <a:xfrm>
            <a:off x="6350760" y="4271040"/>
            <a:ext cx="5402520" cy="967320"/>
            <a:chOff x="6350760" y="4271040"/>
            <a:chExt cx="5402520" cy="967320"/>
          </a:xfrm>
        </p:grpSpPr>
        <p:pic>
          <p:nvPicPr>
            <p:cNvPr id="159" name="object 46"/>
            <p:cNvPicPr/>
            <p:nvPr/>
          </p:nvPicPr>
          <p:blipFill>
            <a:blip r:embed="rId9"/>
            <a:stretch/>
          </p:blipFill>
          <p:spPr>
            <a:xfrm>
              <a:off x="6350760" y="427104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0" name="object 47"/>
            <p:cNvSpPr/>
            <p:nvPr/>
          </p:nvSpPr>
          <p:spPr>
            <a:xfrm>
              <a:off x="6400440" y="429768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4813" y="761130"/>
                  </a:lnTo>
                  <a:lnTo>
                    <a:pt x="4857" y="761353"/>
                  </a:lnTo>
                  <a:lnTo>
                    <a:pt x="10826" y="778984"/>
                  </a:lnTo>
                  <a:lnTo>
                    <a:pt x="10929" y="779290"/>
                  </a:lnTo>
                  <a:lnTo>
                    <a:pt x="42381" y="826285"/>
                  </a:lnTo>
                  <a:lnTo>
                    <a:pt x="89327" y="857589"/>
                  </a:lnTo>
                  <a:lnTo>
                    <a:pt x="144716" y="868680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298446" y="761353"/>
                  </a:lnTo>
                  <a:lnTo>
                    <a:pt x="5298522" y="761130"/>
                  </a:lnTo>
                  <a:lnTo>
                    <a:pt x="5302211" y="742810"/>
                  </a:lnTo>
                  <a:lnTo>
                    <a:pt x="5302253" y="742599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object 48"/>
            <p:cNvSpPr/>
            <p:nvPr/>
          </p:nvSpPr>
          <p:spPr>
            <a:xfrm>
              <a:off x="6400440" y="429768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80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FB91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object 49"/>
          <p:cNvSpPr/>
          <p:nvPr/>
        </p:nvSpPr>
        <p:spPr>
          <a:xfrm>
            <a:off x="6752160" y="4313160"/>
            <a:ext cx="2916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FB913B"/>
                </a:solidFill>
                <a:effectLst/>
                <a:uFillTx/>
                <a:latin typeface="Calibri"/>
              </a:rPr>
              <a:t>Monitoring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Prometheus,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Grafana,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ServiceMonitor,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PromQL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3" name="object 25"/>
          <p:cNvGrpSpPr/>
          <p:nvPr/>
        </p:nvGrpSpPr>
        <p:grpSpPr>
          <a:xfrm>
            <a:off x="681480" y="5276880"/>
            <a:ext cx="5402520" cy="967320"/>
            <a:chOff x="681480" y="5276880"/>
            <a:chExt cx="5402520" cy="967320"/>
          </a:xfrm>
        </p:grpSpPr>
        <p:pic>
          <p:nvPicPr>
            <p:cNvPr id="164" name="object 26"/>
            <p:cNvPicPr/>
            <p:nvPr/>
          </p:nvPicPr>
          <p:blipFill>
            <a:blip r:embed="rId10"/>
            <a:stretch/>
          </p:blipFill>
          <p:spPr>
            <a:xfrm>
              <a:off x="681480" y="527688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5" name="object 27"/>
            <p:cNvSpPr/>
            <p:nvPr/>
          </p:nvSpPr>
          <p:spPr>
            <a:xfrm>
              <a:off x="731160" y="530352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0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4813" y="761130"/>
                  </a:lnTo>
                  <a:lnTo>
                    <a:pt x="4857" y="761353"/>
                  </a:lnTo>
                  <a:lnTo>
                    <a:pt x="10826" y="778984"/>
                  </a:lnTo>
                  <a:lnTo>
                    <a:pt x="29926" y="812076"/>
                  </a:lnTo>
                  <a:lnTo>
                    <a:pt x="72351" y="849236"/>
                  </a:lnTo>
                  <a:lnTo>
                    <a:pt x="125712" y="867413"/>
                  </a:lnTo>
                  <a:lnTo>
                    <a:pt x="144716" y="868679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302211" y="742810"/>
                  </a:lnTo>
                  <a:lnTo>
                    <a:pt x="5302253" y="742599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object 28"/>
            <p:cNvSpPr/>
            <p:nvPr/>
          </p:nvSpPr>
          <p:spPr>
            <a:xfrm>
              <a:off x="731160" y="530352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79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2CD3B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" name="object 29"/>
          <p:cNvSpPr/>
          <p:nvPr/>
        </p:nvSpPr>
        <p:spPr>
          <a:xfrm>
            <a:off x="1082880" y="5319000"/>
            <a:ext cx="33238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2CD3BE"/>
                </a:solidFill>
                <a:effectLst/>
                <a:uFillTx/>
                <a:latin typeface="Calibri"/>
              </a:rPr>
              <a:t>Containers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Docker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multi-stage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builds,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non-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root,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Docker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Compose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object 50"/>
          <p:cNvGrpSpPr/>
          <p:nvPr/>
        </p:nvGrpSpPr>
        <p:grpSpPr>
          <a:xfrm>
            <a:off x="6350760" y="5276880"/>
            <a:ext cx="5402520" cy="967320"/>
            <a:chOff x="6350760" y="5276880"/>
            <a:chExt cx="5402520" cy="967320"/>
          </a:xfrm>
        </p:grpSpPr>
        <p:pic>
          <p:nvPicPr>
            <p:cNvPr id="169" name="object 51"/>
            <p:cNvPicPr/>
            <p:nvPr/>
          </p:nvPicPr>
          <p:blipFill>
            <a:blip r:embed="rId11"/>
            <a:stretch/>
          </p:blipFill>
          <p:spPr>
            <a:xfrm>
              <a:off x="6350760" y="5276880"/>
              <a:ext cx="5402520" cy="96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0" name="object 52"/>
            <p:cNvSpPr/>
            <p:nvPr/>
          </p:nvSpPr>
          <p:spPr>
            <a:xfrm>
              <a:off x="6400440" y="530352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5158435" y="0"/>
                  </a:moveTo>
                  <a:lnTo>
                    <a:pt x="144716" y="0"/>
                  </a:lnTo>
                  <a:lnTo>
                    <a:pt x="125063" y="1266"/>
                  </a:lnTo>
                  <a:lnTo>
                    <a:pt x="125603" y="1266"/>
                  </a:lnTo>
                  <a:lnTo>
                    <a:pt x="107319" y="4859"/>
                  </a:lnTo>
                  <a:lnTo>
                    <a:pt x="56591" y="29939"/>
                  </a:lnTo>
                  <a:lnTo>
                    <a:pt x="19431" y="72364"/>
                  </a:lnTo>
                  <a:lnTo>
                    <a:pt x="1264" y="125719"/>
                  </a:lnTo>
                  <a:lnTo>
                    <a:pt x="0" y="144716"/>
                  </a:lnTo>
                  <a:lnTo>
                    <a:pt x="0" y="723963"/>
                  </a:lnTo>
                  <a:lnTo>
                    <a:pt x="1200" y="742599"/>
                  </a:lnTo>
                  <a:lnTo>
                    <a:pt x="1214" y="742810"/>
                  </a:lnTo>
                  <a:lnTo>
                    <a:pt x="4813" y="761130"/>
                  </a:lnTo>
                  <a:lnTo>
                    <a:pt x="4857" y="761353"/>
                  </a:lnTo>
                  <a:lnTo>
                    <a:pt x="10826" y="778984"/>
                  </a:lnTo>
                  <a:lnTo>
                    <a:pt x="10929" y="779290"/>
                  </a:lnTo>
                  <a:lnTo>
                    <a:pt x="42381" y="826285"/>
                  </a:lnTo>
                  <a:lnTo>
                    <a:pt x="89327" y="857589"/>
                  </a:lnTo>
                  <a:lnTo>
                    <a:pt x="144716" y="868679"/>
                  </a:lnTo>
                  <a:lnTo>
                    <a:pt x="5158790" y="868324"/>
                  </a:lnTo>
                  <a:lnTo>
                    <a:pt x="5214129" y="857383"/>
                  </a:lnTo>
                  <a:lnTo>
                    <a:pt x="5261125" y="825930"/>
                  </a:lnTo>
                  <a:lnTo>
                    <a:pt x="5292429" y="778984"/>
                  </a:lnTo>
                  <a:lnTo>
                    <a:pt x="5303495" y="723963"/>
                  </a:lnTo>
                  <a:lnTo>
                    <a:pt x="5303520" y="723595"/>
                  </a:lnTo>
                  <a:lnTo>
                    <a:pt x="5303151" y="144716"/>
                  </a:lnTo>
                  <a:lnTo>
                    <a:pt x="5292221" y="89389"/>
                  </a:lnTo>
                  <a:lnTo>
                    <a:pt x="5260765" y="42394"/>
                  </a:lnTo>
                  <a:lnTo>
                    <a:pt x="5213824" y="11090"/>
                  </a:lnTo>
                  <a:lnTo>
                    <a:pt x="5177439" y="1266"/>
                  </a:lnTo>
                  <a:lnTo>
                    <a:pt x="5158435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object 53"/>
            <p:cNvSpPr/>
            <p:nvPr/>
          </p:nvSpPr>
          <p:spPr>
            <a:xfrm>
              <a:off x="6400440" y="5303520"/>
              <a:ext cx="5303160" cy="868320"/>
            </a:xfrm>
            <a:custGeom>
              <a:avLst/>
              <a:gdLst>
                <a:gd name="textAreaLeft" fmla="*/ 0 w 5303160"/>
                <a:gd name="textAreaRight" fmla="*/ 5303520 w 5303160"/>
                <a:gd name="textAreaTop" fmla="*/ 0 h 868320"/>
                <a:gd name="textAreaBottom" fmla="*/ 868680 h 868320"/>
              </a:gdLst>
              <a:ahLst/>
              <a:cxnLst/>
              <a:rect l="textAreaLeft" t="textAreaTop" r="textAreaRight" b="textAreaBottom"/>
              <a:pathLst>
                <a:path w="5303520" h="868679">
                  <a:moveTo>
                    <a:pt x="0" y="144716"/>
                  </a:moveTo>
                  <a:lnTo>
                    <a:pt x="1264" y="125719"/>
                  </a:lnTo>
                  <a:lnTo>
                    <a:pt x="4991" y="107192"/>
                  </a:lnTo>
                  <a:lnTo>
                    <a:pt x="29926" y="56603"/>
                  </a:lnTo>
                  <a:lnTo>
                    <a:pt x="72351" y="19443"/>
                  </a:lnTo>
                  <a:lnTo>
                    <a:pt x="125867" y="1214"/>
                  </a:lnTo>
                  <a:lnTo>
                    <a:pt x="144716" y="0"/>
                  </a:lnTo>
                  <a:lnTo>
                    <a:pt x="5158435" y="0"/>
                  </a:lnTo>
                  <a:lnTo>
                    <a:pt x="5213824" y="11090"/>
                  </a:lnTo>
                  <a:lnTo>
                    <a:pt x="5260765" y="42394"/>
                  </a:lnTo>
                  <a:lnTo>
                    <a:pt x="5292221" y="89389"/>
                  </a:lnTo>
                  <a:lnTo>
                    <a:pt x="5303151" y="144716"/>
                  </a:lnTo>
                  <a:lnTo>
                    <a:pt x="5303520" y="723595"/>
                  </a:lnTo>
                  <a:lnTo>
                    <a:pt x="5302253" y="742599"/>
                  </a:lnTo>
                  <a:lnTo>
                    <a:pt x="5298522" y="761130"/>
                  </a:lnTo>
                  <a:lnTo>
                    <a:pt x="5273580" y="811720"/>
                  </a:lnTo>
                  <a:lnTo>
                    <a:pt x="5231155" y="848880"/>
                  </a:lnTo>
                  <a:lnTo>
                    <a:pt x="5177645" y="867107"/>
                  </a:lnTo>
                  <a:lnTo>
                    <a:pt x="144716" y="868679"/>
                  </a:lnTo>
                  <a:lnTo>
                    <a:pt x="89327" y="857589"/>
                  </a:lnTo>
                  <a:lnTo>
                    <a:pt x="42381" y="826285"/>
                  </a:lnTo>
                  <a:lnTo>
                    <a:pt x="10929" y="779290"/>
                  </a:lnTo>
                  <a:lnTo>
                    <a:pt x="0" y="723963"/>
                  </a:lnTo>
                  <a:lnTo>
                    <a:pt x="0" y="144716"/>
                  </a:lnTo>
                  <a:close/>
                </a:path>
              </a:pathLst>
            </a:custGeom>
            <a:noFill/>
            <a:ln w="19079">
              <a:solidFill>
                <a:srgbClr val="F7707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" name="object 54"/>
          <p:cNvSpPr/>
          <p:nvPr/>
        </p:nvSpPr>
        <p:spPr>
          <a:xfrm>
            <a:off x="6752160" y="5319000"/>
            <a:ext cx="36313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805"/>
              </a:spcBef>
            </a:pPr>
            <a:r>
              <a:rPr lang="en-US" sz="1600" b="1" u="none" spc="-11" strike="noStrike">
                <a:solidFill>
                  <a:srgbClr val="F77070"/>
                </a:solidFill>
                <a:effectLst/>
                <a:uFillTx/>
                <a:latin typeface="Calibri"/>
              </a:rPr>
              <a:t>DevSecOps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</a:pP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Trivy,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Bandit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SAST,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pip-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audit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SCA,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Zero-Trust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NetworkPolicy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37BD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4" name="object 3"/>
          <p:cNvGrpSpPr/>
          <p:nvPr/>
        </p:nvGrpSpPr>
        <p:grpSpPr>
          <a:xfrm>
            <a:off x="691200" y="412560"/>
            <a:ext cx="1725480" cy="444960"/>
            <a:chOff x="691200" y="412560"/>
            <a:chExt cx="1725480" cy="444960"/>
          </a:xfrm>
        </p:grpSpPr>
        <p:pic>
          <p:nvPicPr>
            <p:cNvPr id="175" name="object 4"/>
            <p:cNvPicPr/>
            <p:nvPr/>
          </p:nvPicPr>
          <p:blipFill>
            <a:blip r:embed="rId1"/>
            <a:stretch/>
          </p:blipFill>
          <p:spPr>
            <a:xfrm>
              <a:off x="691200" y="41256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6" name="object 5"/>
            <p:cNvSpPr/>
            <p:nvPr/>
          </p:nvSpPr>
          <p:spPr>
            <a:xfrm>
              <a:off x="731160" y="42948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32" y="0"/>
                  </a:lnTo>
                  <a:lnTo>
                    <a:pt x="52058" y="534"/>
                  </a:lnTo>
                  <a:lnTo>
                    <a:pt x="52673" y="534"/>
                  </a:lnTo>
                  <a:lnTo>
                    <a:pt x="45175" y="1938"/>
                  </a:lnTo>
                  <a:lnTo>
                    <a:pt x="12727" y="23717"/>
                  </a:lnTo>
                  <a:lnTo>
                    <a:pt x="0" y="60845"/>
                  </a:lnTo>
                  <a:lnTo>
                    <a:pt x="0" y="304926"/>
                  </a:lnTo>
                  <a:lnTo>
                    <a:pt x="464" y="312584"/>
                  </a:lnTo>
                  <a:lnTo>
                    <a:pt x="477" y="312789"/>
                  </a:lnTo>
                  <a:lnTo>
                    <a:pt x="1898" y="320405"/>
                  </a:lnTo>
                  <a:lnTo>
                    <a:pt x="1931" y="320584"/>
                  </a:lnTo>
                  <a:lnTo>
                    <a:pt x="4347" y="327954"/>
                  </a:lnTo>
                  <a:lnTo>
                    <a:pt x="4398" y="328110"/>
                  </a:lnTo>
                  <a:lnTo>
                    <a:pt x="7912" y="335165"/>
                  </a:lnTo>
                  <a:lnTo>
                    <a:pt x="12310" y="341691"/>
                  </a:lnTo>
                  <a:lnTo>
                    <a:pt x="12411" y="341841"/>
                  </a:lnTo>
                  <a:lnTo>
                    <a:pt x="44997" y="363648"/>
                  </a:lnTo>
                  <a:lnTo>
                    <a:pt x="60832" y="365760"/>
                  </a:lnTo>
                  <a:lnTo>
                    <a:pt x="1585074" y="365404"/>
                  </a:lnTo>
                  <a:lnTo>
                    <a:pt x="1621915" y="353032"/>
                  </a:lnTo>
                  <a:lnTo>
                    <a:pt x="1641133" y="328110"/>
                  </a:lnTo>
                  <a:lnTo>
                    <a:pt x="1641210" y="327954"/>
                  </a:lnTo>
                  <a:lnTo>
                    <a:pt x="1643742" y="320584"/>
                  </a:lnTo>
                  <a:lnTo>
                    <a:pt x="1643803" y="320405"/>
                  </a:lnTo>
                  <a:lnTo>
                    <a:pt x="1645343" y="312789"/>
                  </a:lnTo>
                  <a:lnTo>
                    <a:pt x="1645385" y="312584"/>
                  </a:lnTo>
                  <a:lnTo>
                    <a:pt x="1645895" y="304926"/>
                  </a:lnTo>
                  <a:lnTo>
                    <a:pt x="1645920" y="304558"/>
                  </a:lnTo>
                  <a:lnTo>
                    <a:pt x="1645551" y="60845"/>
                  </a:lnTo>
                  <a:lnTo>
                    <a:pt x="1633134" y="23928"/>
                  </a:lnTo>
                  <a:lnTo>
                    <a:pt x="1600554" y="2116"/>
                  </a:lnTo>
                  <a:lnTo>
                    <a:pt x="1592736" y="534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object 6"/>
          <p:cNvSpPr/>
          <p:nvPr/>
        </p:nvSpPr>
        <p:spPr>
          <a:xfrm>
            <a:off x="1444680" y="51588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Application</a:t>
            </a:r>
            <a:r>
              <a:rPr lang="en-US" sz="3200" b="1" u="none" spc="-96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</a:t>
            </a:r>
            <a:r>
              <a:rPr lang="en-US" sz="3200" b="1" u="none" spc="-9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Frontend,</a:t>
            </a:r>
            <a:r>
              <a:rPr lang="en-US" sz="3200" b="1" u="none" spc="-9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Backend</a:t>
            </a:r>
            <a:r>
              <a:rPr lang="en-US" sz="3200" b="1" u="none" spc="-9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&amp;</a:t>
            </a:r>
            <a:r>
              <a:rPr lang="en-US" sz="3200" b="1" u="none" spc="-8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Database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79" name="object 8"/>
          <p:cNvGrpSpPr/>
          <p:nvPr/>
        </p:nvGrpSpPr>
        <p:grpSpPr>
          <a:xfrm>
            <a:off x="2501640" y="897120"/>
            <a:ext cx="2201040" cy="117000"/>
            <a:chOff x="2501640" y="897120"/>
            <a:chExt cx="2201040" cy="117000"/>
          </a:xfrm>
        </p:grpSpPr>
        <p:pic>
          <p:nvPicPr>
            <p:cNvPr id="180" name="object 9"/>
            <p:cNvPicPr/>
            <p:nvPr/>
          </p:nvPicPr>
          <p:blipFill>
            <a:blip r:embed="rId2"/>
            <a:stretch/>
          </p:blipFill>
          <p:spPr>
            <a:xfrm>
              <a:off x="2501640" y="897120"/>
              <a:ext cx="220104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1" name="object 10"/>
            <p:cNvSpPr/>
            <p:nvPr/>
          </p:nvSpPr>
          <p:spPr>
            <a:xfrm>
              <a:off x="2541600" y="914040"/>
              <a:ext cx="2121120" cy="37800"/>
            </a:xfrm>
            <a:custGeom>
              <a:avLst/>
              <a:gdLst>
                <a:gd name="textAreaLeft" fmla="*/ 0 w 2121120"/>
                <a:gd name="textAreaRight" fmla="*/ 2121480 w 212112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2121535" h="38100">
                  <a:moveTo>
                    <a:pt x="2121484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1060919" y="37795"/>
                  </a:lnTo>
                  <a:lnTo>
                    <a:pt x="2121484" y="37795"/>
                  </a:lnTo>
                  <a:lnTo>
                    <a:pt x="2121484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2" name="object 11"/>
          <p:cNvSpPr/>
          <p:nvPr/>
        </p:nvSpPr>
        <p:spPr>
          <a:xfrm>
            <a:off x="808560" y="1118880"/>
            <a:ext cx="4318200" cy="17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3760" rIns="0" bIns="0" anchor="t">
            <a:spAutoFit/>
          </a:bodyPr>
          <a:p>
            <a:pPr marL="158040" indent="-145440">
              <a:lnSpc>
                <a:spcPct val="100000"/>
              </a:lnSpc>
              <a:spcBef>
                <a:spcPts val="893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React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18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SaaS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Kanban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Board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with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real-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time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KPIs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Task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creation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modals,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priority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badges,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status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filters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FastAPI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backend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with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SQLAlchemy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PostgreSQL</a:t>
            </a:r>
            <a:r>
              <a:rPr lang="en-US" sz="1600" b="0" u="none" spc="-6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database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with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Alembic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migrations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4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Schema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tracked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via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0001_create_tasks_table.py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object 12" descr="image.png"/>
          <p:cNvPicPr/>
          <p:nvPr/>
        </p:nvPicPr>
        <p:blipFill>
          <a:blip r:embed="rId3"/>
          <a:stretch/>
        </p:blipFill>
        <p:spPr>
          <a:xfrm>
            <a:off x="6217920" y="1096920"/>
            <a:ext cx="5485680" cy="27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object 13" descr="image4.png"/>
          <p:cNvPicPr/>
          <p:nvPr/>
        </p:nvPicPr>
        <p:blipFill>
          <a:blip r:embed="rId4"/>
          <a:stretch/>
        </p:blipFill>
        <p:spPr>
          <a:xfrm>
            <a:off x="6217920" y="4023000"/>
            <a:ext cx="5485680" cy="25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49DE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6" name="object 3"/>
          <p:cNvGrpSpPr/>
          <p:nvPr/>
        </p:nvGrpSpPr>
        <p:grpSpPr>
          <a:xfrm>
            <a:off x="545040" y="430920"/>
            <a:ext cx="1725480" cy="444960"/>
            <a:chOff x="545040" y="430920"/>
            <a:chExt cx="1725480" cy="444960"/>
          </a:xfrm>
        </p:grpSpPr>
        <p:pic>
          <p:nvPicPr>
            <p:cNvPr id="187" name="object 4"/>
            <p:cNvPicPr/>
            <p:nvPr/>
          </p:nvPicPr>
          <p:blipFill>
            <a:blip r:embed="rId1"/>
            <a:stretch/>
          </p:blipFill>
          <p:spPr>
            <a:xfrm>
              <a:off x="545040" y="43092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8" name="object 5"/>
            <p:cNvSpPr/>
            <p:nvPr/>
          </p:nvSpPr>
          <p:spPr>
            <a:xfrm>
              <a:off x="585000" y="44784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45" y="0"/>
                  </a:lnTo>
                  <a:lnTo>
                    <a:pt x="52030" y="534"/>
                  </a:lnTo>
                  <a:lnTo>
                    <a:pt x="52668" y="534"/>
                  </a:lnTo>
                  <a:lnTo>
                    <a:pt x="45177" y="1933"/>
                  </a:lnTo>
                  <a:lnTo>
                    <a:pt x="12727" y="23712"/>
                  </a:lnTo>
                  <a:lnTo>
                    <a:pt x="0" y="60845"/>
                  </a:lnTo>
                  <a:lnTo>
                    <a:pt x="0" y="304914"/>
                  </a:lnTo>
                  <a:lnTo>
                    <a:pt x="465" y="312578"/>
                  </a:lnTo>
                  <a:lnTo>
                    <a:pt x="477" y="312778"/>
                  </a:lnTo>
                  <a:lnTo>
                    <a:pt x="1900" y="320400"/>
                  </a:lnTo>
                  <a:lnTo>
                    <a:pt x="1933" y="320578"/>
                  </a:lnTo>
                  <a:lnTo>
                    <a:pt x="4353" y="327952"/>
                  </a:lnTo>
                  <a:lnTo>
                    <a:pt x="4404" y="328108"/>
                  </a:lnTo>
                  <a:lnTo>
                    <a:pt x="7924" y="335165"/>
                  </a:lnTo>
                  <a:lnTo>
                    <a:pt x="12317" y="341686"/>
                  </a:lnTo>
                  <a:lnTo>
                    <a:pt x="12422" y="341841"/>
                  </a:lnTo>
                  <a:lnTo>
                    <a:pt x="44999" y="363643"/>
                  </a:lnTo>
                  <a:lnTo>
                    <a:pt x="60845" y="365760"/>
                  </a:lnTo>
                  <a:lnTo>
                    <a:pt x="1585074" y="365404"/>
                  </a:lnTo>
                  <a:lnTo>
                    <a:pt x="1621925" y="353032"/>
                  </a:lnTo>
                  <a:lnTo>
                    <a:pt x="1643742" y="320578"/>
                  </a:lnTo>
                  <a:lnTo>
                    <a:pt x="1645344" y="312778"/>
                  </a:lnTo>
                  <a:lnTo>
                    <a:pt x="1645385" y="312578"/>
                  </a:lnTo>
                  <a:lnTo>
                    <a:pt x="1645896" y="304914"/>
                  </a:lnTo>
                  <a:lnTo>
                    <a:pt x="1645920" y="304558"/>
                  </a:lnTo>
                  <a:lnTo>
                    <a:pt x="1645564" y="60845"/>
                  </a:lnTo>
                  <a:lnTo>
                    <a:pt x="1633140" y="23918"/>
                  </a:lnTo>
                  <a:lnTo>
                    <a:pt x="1600560" y="2116"/>
                  </a:lnTo>
                  <a:lnTo>
                    <a:pt x="1592738" y="534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49DE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object 6"/>
          <p:cNvSpPr/>
          <p:nvPr/>
        </p:nvSpPr>
        <p:spPr>
          <a:xfrm>
            <a:off x="1298520" y="53424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pc="-40" strike="noStrike">
                <a:solidFill>
                  <a:schemeClr val="lt1"/>
                </a:solidFill>
                <a:effectLst/>
                <a:uFillTx/>
                <a:latin typeface="Calibri"/>
              </a:rPr>
              <a:t>Testing</a:t>
            </a:r>
            <a:r>
              <a:rPr lang="en-US" sz="3200" b="1" u="none" spc="-7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</a:t>
            </a:r>
            <a:r>
              <a:rPr lang="en-US" sz="3200" b="1" u="none" spc="-6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Pytest</a:t>
            </a:r>
            <a:r>
              <a:rPr lang="en-US" sz="3200" b="1" u="none" spc="-6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Quality</a:t>
            </a:r>
            <a:r>
              <a:rPr lang="en-US" sz="3200" b="1" u="none" spc="-7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Gates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191" name="object 8"/>
          <p:cNvGrpSpPr/>
          <p:nvPr/>
        </p:nvGrpSpPr>
        <p:grpSpPr>
          <a:xfrm>
            <a:off x="2557080" y="897120"/>
            <a:ext cx="1359720" cy="117000"/>
            <a:chOff x="2557080" y="897120"/>
            <a:chExt cx="1359720" cy="117000"/>
          </a:xfrm>
        </p:grpSpPr>
        <p:pic>
          <p:nvPicPr>
            <p:cNvPr id="192" name="object 9"/>
            <p:cNvPicPr/>
            <p:nvPr/>
          </p:nvPicPr>
          <p:blipFill>
            <a:blip r:embed="rId2"/>
            <a:stretch/>
          </p:blipFill>
          <p:spPr>
            <a:xfrm>
              <a:off x="2557080" y="897120"/>
              <a:ext cx="135972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3" name="object 10"/>
            <p:cNvSpPr/>
            <p:nvPr/>
          </p:nvSpPr>
          <p:spPr>
            <a:xfrm>
              <a:off x="2597040" y="914040"/>
              <a:ext cx="1279800" cy="37800"/>
            </a:xfrm>
            <a:custGeom>
              <a:avLst/>
              <a:gdLst>
                <a:gd name="textAreaLeft" fmla="*/ 0 w 1279800"/>
                <a:gd name="textAreaRight" fmla="*/ 1280160 w 127980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280160" h="38100">
                  <a:moveTo>
                    <a:pt x="1280159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640079" y="37795"/>
                  </a:lnTo>
                  <a:lnTo>
                    <a:pt x="1280159" y="37795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49DE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object 11"/>
          <p:cNvSpPr/>
          <p:nvPr/>
        </p:nvSpPr>
        <p:spPr>
          <a:xfrm>
            <a:off x="808560" y="1118880"/>
            <a:ext cx="4416840" cy="20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3760" rIns="0" bIns="0" anchor="t">
            <a:spAutoFit/>
          </a:bodyPr>
          <a:p>
            <a:pPr marL="158040" indent="-145440">
              <a:lnSpc>
                <a:spcPct val="100000"/>
              </a:lnSpc>
              <a:spcBef>
                <a:spcPts val="893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10/10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integration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tests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pass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before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any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build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Pytest</a:t>
            </a:r>
            <a:r>
              <a:rPr lang="en-US" sz="1600" b="0" u="none" spc="-6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+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Pytest-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Asyncio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for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async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endpoint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testing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HTTPX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TestClient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for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real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HTTP-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layer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assertions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SQLite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in-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memory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fixtures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for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isolated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DB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testing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4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Tests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validate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every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API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endpoint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and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health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probes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Zero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failures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required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to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proceed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in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CI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pipeline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A78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6" name="object 3"/>
          <p:cNvGrpSpPr/>
          <p:nvPr/>
        </p:nvGrpSpPr>
        <p:grpSpPr>
          <a:xfrm>
            <a:off x="581400" y="375840"/>
            <a:ext cx="1725480" cy="444960"/>
            <a:chOff x="581400" y="375840"/>
            <a:chExt cx="1725480" cy="444960"/>
          </a:xfrm>
        </p:grpSpPr>
        <p:pic>
          <p:nvPicPr>
            <p:cNvPr id="197" name="object 4"/>
            <p:cNvPicPr/>
            <p:nvPr/>
          </p:nvPicPr>
          <p:blipFill>
            <a:blip r:embed="rId1"/>
            <a:stretch/>
          </p:blipFill>
          <p:spPr>
            <a:xfrm>
              <a:off x="581400" y="37584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8" name="object 5"/>
            <p:cNvSpPr/>
            <p:nvPr/>
          </p:nvSpPr>
          <p:spPr>
            <a:xfrm>
              <a:off x="621360" y="39276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45" y="0"/>
                  </a:lnTo>
                  <a:lnTo>
                    <a:pt x="52030" y="534"/>
                  </a:lnTo>
                  <a:lnTo>
                    <a:pt x="52668" y="534"/>
                  </a:lnTo>
                  <a:lnTo>
                    <a:pt x="45177" y="1933"/>
                  </a:lnTo>
                  <a:lnTo>
                    <a:pt x="12727" y="23712"/>
                  </a:lnTo>
                  <a:lnTo>
                    <a:pt x="0" y="60845"/>
                  </a:lnTo>
                  <a:lnTo>
                    <a:pt x="0" y="304914"/>
                  </a:lnTo>
                  <a:lnTo>
                    <a:pt x="465" y="312578"/>
                  </a:lnTo>
                  <a:lnTo>
                    <a:pt x="477" y="312778"/>
                  </a:lnTo>
                  <a:lnTo>
                    <a:pt x="1900" y="320400"/>
                  </a:lnTo>
                  <a:lnTo>
                    <a:pt x="1933" y="320578"/>
                  </a:lnTo>
                  <a:lnTo>
                    <a:pt x="4353" y="327952"/>
                  </a:lnTo>
                  <a:lnTo>
                    <a:pt x="4404" y="328108"/>
                  </a:lnTo>
                  <a:lnTo>
                    <a:pt x="7924" y="335165"/>
                  </a:lnTo>
                  <a:lnTo>
                    <a:pt x="12317" y="341686"/>
                  </a:lnTo>
                  <a:lnTo>
                    <a:pt x="12422" y="341841"/>
                  </a:lnTo>
                  <a:lnTo>
                    <a:pt x="44999" y="363643"/>
                  </a:lnTo>
                  <a:lnTo>
                    <a:pt x="60845" y="365760"/>
                  </a:lnTo>
                  <a:lnTo>
                    <a:pt x="1585074" y="365404"/>
                  </a:lnTo>
                  <a:lnTo>
                    <a:pt x="1621925" y="353032"/>
                  </a:lnTo>
                  <a:lnTo>
                    <a:pt x="1641133" y="328108"/>
                  </a:lnTo>
                  <a:lnTo>
                    <a:pt x="1641210" y="327952"/>
                  </a:lnTo>
                  <a:lnTo>
                    <a:pt x="1643742" y="320578"/>
                  </a:lnTo>
                  <a:lnTo>
                    <a:pt x="1643803" y="320400"/>
                  </a:lnTo>
                  <a:lnTo>
                    <a:pt x="1645344" y="312778"/>
                  </a:lnTo>
                  <a:lnTo>
                    <a:pt x="1645385" y="312578"/>
                  </a:lnTo>
                  <a:lnTo>
                    <a:pt x="1645896" y="304914"/>
                  </a:lnTo>
                  <a:lnTo>
                    <a:pt x="1645920" y="304558"/>
                  </a:lnTo>
                  <a:lnTo>
                    <a:pt x="1645564" y="60845"/>
                  </a:lnTo>
                  <a:lnTo>
                    <a:pt x="1633140" y="23918"/>
                  </a:lnTo>
                  <a:lnTo>
                    <a:pt x="1600560" y="2116"/>
                  </a:lnTo>
                  <a:lnTo>
                    <a:pt x="1592738" y="534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A78A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9" name="object 6"/>
          <p:cNvSpPr/>
          <p:nvPr/>
        </p:nvSpPr>
        <p:spPr>
          <a:xfrm>
            <a:off x="1176120" y="479160"/>
            <a:ext cx="5349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M3</a:t>
            </a:r>
            <a:r>
              <a:rPr lang="en-US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en-US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Docker</a:t>
            </a:r>
            <a:r>
              <a:rPr lang="en-US" sz="3200" b="1" u="none" spc="-7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</a:t>
            </a:r>
            <a:r>
              <a:rPr lang="en-US" sz="3200" b="1" u="none" spc="-7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Containerization</a:t>
            </a:r>
            <a:r>
              <a:rPr lang="en-US" sz="3200" b="1" u="none" spc="-60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&amp;</a:t>
            </a:r>
            <a:r>
              <a:rPr lang="en-US" sz="3200" b="1" u="none" spc="-7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Compose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01" name="object 8"/>
          <p:cNvGrpSpPr/>
          <p:nvPr/>
        </p:nvGrpSpPr>
        <p:grpSpPr>
          <a:xfrm>
            <a:off x="2538720" y="897120"/>
            <a:ext cx="1359720" cy="117000"/>
            <a:chOff x="2538720" y="897120"/>
            <a:chExt cx="1359720" cy="117000"/>
          </a:xfrm>
        </p:grpSpPr>
        <p:pic>
          <p:nvPicPr>
            <p:cNvPr id="202" name="object 9"/>
            <p:cNvPicPr/>
            <p:nvPr/>
          </p:nvPicPr>
          <p:blipFill>
            <a:blip r:embed="rId2"/>
            <a:stretch/>
          </p:blipFill>
          <p:spPr>
            <a:xfrm>
              <a:off x="2538720" y="897120"/>
              <a:ext cx="135972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3" name="object 10"/>
            <p:cNvSpPr/>
            <p:nvPr/>
          </p:nvSpPr>
          <p:spPr>
            <a:xfrm>
              <a:off x="2578680" y="914040"/>
              <a:ext cx="1279800" cy="37800"/>
            </a:xfrm>
            <a:custGeom>
              <a:avLst/>
              <a:gdLst>
                <a:gd name="textAreaLeft" fmla="*/ 0 w 1279800"/>
                <a:gd name="textAreaRight" fmla="*/ 1280160 w 127980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280160" h="38100">
                  <a:moveTo>
                    <a:pt x="1280160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640080" y="37795"/>
                  </a:lnTo>
                  <a:lnTo>
                    <a:pt x="1280160" y="37795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A78A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4" name="object 11"/>
          <p:cNvSpPr/>
          <p:nvPr/>
        </p:nvSpPr>
        <p:spPr>
          <a:xfrm>
            <a:off x="808560" y="1118880"/>
            <a:ext cx="4187520" cy="20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3760" rIns="0" bIns="0" anchor="t">
            <a:spAutoFit/>
          </a:bodyPr>
          <a:p>
            <a:pPr marL="158040" indent="-145440">
              <a:lnSpc>
                <a:spcPct val="100000"/>
              </a:lnSpc>
              <a:spcBef>
                <a:spcPts val="893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Multi-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stage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Dockerfiles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for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minimal</a:t>
            </a:r>
            <a:r>
              <a:rPr lang="en-US" sz="16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image</a:t>
            </a:r>
            <a:r>
              <a:rPr lang="en-US" sz="16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size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Backend: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Slim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Python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3.12,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non-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root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appuser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Frontend: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Node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20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build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→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Nginx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Alpine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runtime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Docker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Compose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orchestrates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full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local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stack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4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Health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checks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on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all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containers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3</a:t>
            </a:r>
            <a:r>
              <a:rPr lang="en-US" sz="16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containers:</a:t>
            </a:r>
            <a:r>
              <a:rPr lang="en-US" sz="16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taskboard-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db,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backend,</a:t>
            </a:r>
            <a:r>
              <a:rPr lang="en-US" sz="16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frontend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object 12" descr="image.png"/>
          <p:cNvPicPr/>
          <p:nvPr/>
        </p:nvPicPr>
        <p:blipFill>
          <a:blip r:embed="rId3"/>
          <a:stretch/>
        </p:blipFill>
        <p:spPr>
          <a:xfrm>
            <a:off x="6217920" y="1096920"/>
            <a:ext cx="5485680" cy="25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object 13" descr="image2.png"/>
          <p:cNvPicPr/>
          <p:nvPr/>
        </p:nvPicPr>
        <p:blipFill>
          <a:blip r:embed="rId4"/>
          <a:stretch/>
        </p:blipFill>
        <p:spPr>
          <a:xfrm>
            <a:off x="6217920" y="3840120"/>
            <a:ext cx="5485680" cy="25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FB91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8" name="object 3"/>
          <p:cNvGrpSpPr/>
          <p:nvPr/>
        </p:nvGrpSpPr>
        <p:grpSpPr>
          <a:xfrm>
            <a:off x="416880" y="412560"/>
            <a:ext cx="1725480" cy="444960"/>
            <a:chOff x="416880" y="412560"/>
            <a:chExt cx="1725480" cy="444960"/>
          </a:xfrm>
        </p:grpSpPr>
        <p:pic>
          <p:nvPicPr>
            <p:cNvPr id="209" name="object 4"/>
            <p:cNvPicPr/>
            <p:nvPr/>
          </p:nvPicPr>
          <p:blipFill>
            <a:blip r:embed="rId1"/>
            <a:stretch/>
          </p:blipFill>
          <p:spPr>
            <a:xfrm>
              <a:off x="416880" y="41256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0" name="object 5"/>
            <p:cNvSpPr/>
            <p:nvPr/>
          </p:nvSpPr>
          <p:spPr>
            <a:xfrm>
              <a:off x="456840" y="42948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32" y="0"/>
                  </a:lnTo>
                  <a:lnTo>
                    <a:pt x="52058" y="534"/>
                  </a:lnTo>
                  <a:lnTo>
                    <a:pt x="52673" y="534"/>
                  </a:lnTo>
                  <a:lnTo>
                    <a:pt x="45175" y="1938"/>
                  </a:lnTo>
                  <a:lnTo>
                    <a:pt x="12727" y="23717"/>
                  </a:lnTo>
                  <a:lnTo>
                    <a:pt x="0" y="60845"/>
                  </a:lnTo>
                  <a:lnTo>
                    <a:pt x="0" y="304926"/>
                  </a:lnTo>
                  <a:lnTo>
                    <a:pt x="464" y="312584"/>
                  </a:lnTo>
                  <a:lnTo>
                    <a:pt x="477" y="312789"/>
                  </a:lnTo>
                  <a:lnTo>
                    <a:pt x="1898" y="320405"/>
                  </a:lnTo>
                  <a:lnTo>
                    <a:pt x="1931" y="320584"/>
                  </a:lnTo>
                  <a:lnTo>
                    <a:pt x="4347" y="327954"/>
                  </a:lnTo>
                  <a:lnTo>
                    <a:pt x="4398" y="328110"/>
                  </a:lnTo>
                  <a:lnTo>
                    <a:pt x="7912" y="335165"/>
                  </a:lnTo>
                  <a:lnTo>
                    <a:pt x="12310" y="341691"/>
                  </a:lnTo>
                  <a:lnTo>
                    <a:pt x="12411" y="341841"/>
                  </a:lnTo>
                  <a:lnTo>
                    <a:pt x="44997" y="363648"/>
                  </a:lnTo>
                  <a:lnTo>
                    <a:pt x="60832" y="365760"/>
                  </a:lnTo>
                  <a:lnTo>
                    <a:pt x="1585074" y="365404"/>
                  </a:lnTo>
                  <a:lnTo>
                    <a:pt x="1621915" y="353032"/>
                  </a:lnTo>
                  <a:lnTo>
                    <a:pt x="1641133" y="328110"/>
                  </a:lnTo>
                  <a:lnTo>
                    <a:pt x="1641210" y="327954"/>
                  </a:lnTo>
                  <a:lnTo>
                    <a:pt x="1643742" y="320584"/>
                  </a:lnTo>
                  <a:lnTo>
                    <a:pt x="1643803" y="320405"/>
                  </a:lnTo>
                  <a:lnTo>
                    <a:pt x="1645343" y="312789"/>
                  </a:lnTo>
                  <a:lnTo>
                    <a:pt x="1645385" y="312584"/>
                  </a:lnTo>
                  <a:lnTo>
                    <a:pt x="1645895" y="304926"/>
                  </a:lnTo>
                  <a:lnTo>
                    <a:pt x="1645920" y="304558"/>
                  </a:lnTo>
                  <a:lnTo>
                    <a:pt x="1645551" y="60845"/>
                  </a:lnTo>
                  <a:lnTo>
                    <a:pt x="1633134" y="23928"/>
                  </a:lnTo>
                  <a:lnTo>
                    <a:pt x="1600554" y="2116"/>
                  </a:lnTo>
                  <a:lnTo>
                    <a:pt x="1592736" y="534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FB91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object 6"/>
          <p:cNvSpPr/>
          <p:nvPr/>
        </p:nvSpPr>
        <p:spPr>
          <a:xfrm>
            <a:off x="1170360" y="51588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CI/CD</a:t>
            </a:r>
            <a:r>
              <a:rPr lang="en-US" sz="3200" b="1" u="none" spc="-6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</a:t>
            </a:r>
            <a:r>
              <a:rPr lang="en-US" sz="3200" b="1" u="none" spc="-7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GitHub</a:t>
            </a:r>
            <a:r>
              <a:rPr lang="en-US" sz="3200" b="1" u="none" spc="-6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Actions</a:t>
            </a:r>
            <a:r>
              <a:rPr lang="en-US" sz="3200" b="1" u="none" spc="-6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Pipeline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13" name="object 8"/>
          <p:cNvGrpSpPr/>
          <p:nvPr/>
        </p:nvGrpSpPr>
        <p:grpSpPr>
          <a:xfrm>
            <a:off x="2474280" y="896760"/>
            <a:ext cx="1222560" cy="117000"/>
            <a:chOff x="2474280" y="896760"/>
            <a:chExt cx="1222560" cy="117000"/>
          </a:xfrm>
        </p:grpSpPr>
        <p:pic>
          <p:nvPicPr>
            <p:cNvPr id="214" name="object 9"/>
            <p:cNvPicPr/>
            <p:nvPr/>
          </p:nvPicPr>
          <p:blipFill>
            <a:blip r:embed="rId2"/>
            <a:stretch/>
          </p:blipFill>
          <p:spPr>
            <a:xfrm>
              <a:off x="2474280" y="896760"/>
              <a:ext cx="122256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5" name="object 10"/>
            <p:cNvSpPr/>
            <p:nvPr/>
          </p:nvSpPr>
          <p:spPr>
            <a:xfrm>
              <a:off x="2514240" y="913680"/>
              <a:ext cx="1142640" cy="37800"/>
            </a:xfrm>
            <a:custGeom>
              <a:avLst/>
              <a:gdLst>
                <a:gd name="textAreaLeft" fmla="*/ 0 w 1142640"/>
                <a:gd name="textAreaRight" fmla="*/ 1143000 w 1142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143000" h="38100">
                  <a:moveTo>
                    <a:pt x="1142999" y="0"/>
                  </a:moveTo>
                  <a:lnTo>
                    <a:pt x="0" y="0"/>
                  </a:lnTo>
                  <a:lnTo>
                    <a:pt x="0" y="37807"/>
                  </a:lnTo>
                  <a:lnTo>
                    <a:pt x="571677" y="37807"/>
                  </a:lnTo>
                  <a:lnTo>
                    <a:pt x="1142999" y="37807"/>
                  </a:lnTo>
                  <a:lnTo>
                    <a:pt x="1142999" y="0"/>
                  </a:lnTo>
                  <a:close/>
                </a:path>
              </a:pathLst>
            </a:custGeom>
            <a:solidFill>
              <a:srgbClr val="FB91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6" name="object 11"/>
          <p:cNvGrpSpPr/>
          <p:nvPr/>
        </p:nvGrpSpPr>
        <p:grpSpPr>
          <a:xfrm>
            <a:off x="681480" y="1162080"/>
            <a:ext cx="5128200" cy="2704680"/>
            <a:chOff x="681480" y="1162080"/>
            <a:chExt cx="5128200" cy="2704680"/>
          </a:xfrm>
        </p:grpSpPr>
        <p:pic>
          <p:nvPicPr>
            <p:cNvPr id="217" name="object 12"/>
            <p:cNvPicPr/>
            <p:nvPr/>
          </p:nvPicPr>
          <p:blipFill>
            <a:blip r:embed="rId3"/>
            <a:stretch/>
          </p:blipFill>
          <p:spPr>
            <a:xfrm>
              <a:off x="681480" y="1162080"/>
              <a:ext cx="5128200" cy="875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8" name="object 13"/>
            <p:cNvSpPr/>
            <p:nvPr/>
          </p:nvSpPr>
          <p:spPr>
            <a:xfrm>
              <a:off x="730800" y="1188360"/>
              <a:ext cx="5029560" cy="7776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502983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4899964" y="777595"/>
                  </a:lnTo>
                  <a:lnTo>
                    <a:pt x="4949472" y="767721"/>
                  </a:lnTo>
                  <a:lnTo>
                    <a:pt x="4991627" y="739660"/>
                  </a:lnTo>
                  <a:lnTo>
                    <a:pt x="5019693" y="697510"/>
                  </a:lnTo>
                  <a:lnTo>
                    <a:pt x="5029568" y="647992"/>
                  </a:lnTo>
                  <a:lnTo>
                    <a:pt x="5029543" y="129590"/>
                  </a:lnTo>
                  <a:lnTo>
                    <a:pt x="5019693" y="80440"/>
                  </a:lnTo>
                  <a:lnTo>
                    <a:pt x="4991627" y="38290"/>
                  </a:lnTo>
                  <a:lnTo>
                    <a:pt x="4949472" y="10230"/>
                  </a:lnTo>
                  <a:lnTo>
                    <a:pt x="48999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object 14"/>
            <p:cNvSpPr/>
            <p:nvPr/>
          </p:nvSpPr>
          <p:spPr>
            <a:xfrm>
              <a:off x="730800" y="1188360"/>
              <a:ext cx="5029560" cy="7776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5029835" h="777875">
                  <a:moveTo>
                    <a:pt x="368" y="129590"/>
                  </a:moveTo>
                  <a:lnTo>
                    <a:pt x="1498" y="112687"/>
                  </a:lnTo>
                  <a:lnTo>
                    <a:pt x="4822" y="96116"/>
                  </a:lnTo>
                  <a:lnTo>
                    <a:pt x="27141" y="50636"/>
                  </a:lnTo>
                  <a:lnTo>
                    <a:pt x="65163" y="17272"/>
                  </a:lnTo>
                  <a:lnTo>
                    <a:pt x="113055" y="1130"/>
                  </a:lnTo>
                  <a:lnTo>
                    <a:pt x="129959" y="0"/>
                  </a:lnTo>
                  <a:lnTo>
                    <a:pt x="4899964" y="355"/>
                  </a:lnTo>
                  <a:lnTo>
                    <a:pt x="4949472" y="10230"/>
                  </a:lnTo>
                  <a:lnTo>
                    <a:pt x="4991627" y="38290"/>
                  </a:lnTo>
                  <a:lnTo>
                    <a:pt x="5019693" y="80440"/>
                  </a:lnTo>
                  <a:lnTo>
                    <a:pt x="5029568" y="129959"/>
                  </a:lnTo>
                  <a:lnTo>
                    <a:pt x="5029568" y="647992"/>
                  </a:lnTo>
                  <a:lnTo>
                    <a:pt x="5028437" y="664903"/>
                  </a:lnTo>
                  <a:lnTo>
                    <a:pt x="5025112" y="681477"/>
                  </a:lnTo>
                  <a:lnTo>
                    <a:pt x="5002782" y="726956"/>
                  </a:lnTo>
                  <a:lnTo>
                    <a:pt x="4964760" y="760310"/>
                  </a:lnTo>
                  <a:lnTo>
                    <a:pt x="4916873" y="776464"/>
                  </a:lnTo>
                  <a:lnTo>
                    <a:pt x="4899964" y="777595"/>
                  </a:lnTo>
                  <a:lnTo>
                    <a:pt x="129603" y="777595"/>
                  </a:lnTo>
                  <a:lnTo>
                    <a:pt x="80095" y="767721"/>
                  </a:lnTo>
                  <a:lnTo>
                    <a:pt x="37941" y="739660"/>
                  </a:lnTo>
                  <a:lnTo>
                    <a:pt x="9874" y="697510"/>
                  </a:lnTo>
                  <a:lnTo>
                    <a:pt x="0" y="647992"/>
                  </a:lnTo>
                  <a:lnTo>
                    <a:pt x="368" y="129590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20" name="object 15"/>
            <p:cNvPicPr/>
            <p:nvPr/>
          </p:nvPicPr>
          <p:blipFill>
            <a:blip r:embed="rId4"/>
            <a:stretch/>
          </p:blipFill>
          <p:spPr>
            <a:xfrm>
              <a:off x="681480" y="2076480"/>
              <a:ext cx="5128200" cy="875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1" name="object 16"/>
            <p:cNvSpPr/>
            <p:nvPr/>
          </p:nvSpPr>
          <p:spPr>
            <a:xfrm>
              <a:off x="730800" y="2102760"/>
              <a:ext cx="5029560" cy="7776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502983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4899964" y="777595"/>
                  </a:lnTo>
                  <a:lnTo>
                    <a:pt x="4949472" y="767721"/>
                  </a:lnTo>
                  <a:lnTo>
                    <a:pt x="4991627" y="739660"/>
                  </a:lnTo>
                  <a:lnTo>
                    <a:pt x="5019693" y="697510"/>
                  </a:lnTo>
                  <a:lnTo>
                    <a:pt x="5029568" y="647992"/>
                  </a:lnTo>
                  <a:lnTo>
                    <a:pt x="5029543" y="129590"/>
                  </a:lnTo>
                  <a:lnTo>
                    <a:pt x="5019693" y="80440"/>
                  </a:lnTo>
                  <a:lnTo>
                    <a:pt x="4991627" y="38290"/>
                  </a:lnTo>
                  <a:lnTo>
                    <a:pt x="4949472" y="10230"/>
                  </a:lnTo>
                  <a:lnTo>
                    <a:pt x="48999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object 17"/>
            <p:cNvSpPr/>
            <p:nvPr/>
          </p:nvSpPr>
          <p:spPr>
            <a:xfrm>
              <a:off x="730800" y="2102760"/>
              <a:ext cx="5029560" cy="7776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5029835" h="777875">
                  <a:moveTo>
                    <a:pt x="368" y="129590"/>
                  </a:moveTo>
                  <a:lnTo>
                    <a:pt x="1498" y="112687"/>
                  </a:lnTo>
                  <a:lnTo>
                    <a:pt x="4822" y="96116"/>
                  </a:lnTo>
                  <a:lnTo>
                    <a:pt x="27141" y="50636"/>
                  </a:lnTo>
                  <a:lnTo>
                    <a:pt x="65163" y="17272"/>
                  </a:lnTo>
                  <a:lnTo>
                    <a:pt x="113055" y="1130"/>
                  </a:lnTo>
                  <a:lnTo>
                    <a:pt x="129959" y="0"/>
                  </a:lnTo>
                  <a:lnTo>
                    <a:pt x="4899964" y="355"/>
                  </a:lnTo>
                  <a:lnTo>
                    <a:pt x="4949472" y="10230"/>
                  </a:lnTo>
                  <a:lnTo>
                    <a:pt x="4991627" y="38290"/>
                  </a:lnTo>
                  <a:lnTo>
                    <a:pt x="5019693" y="80440"/>
                  </a:lnTo>
                  <a:lnTo>
                    <a:pt x="5029568" y="129959"/>
                  </a:lnTo>
                  <a:lnTo>
                    <a:pt x="5029568" y="647992"/>
                  </a:lnTo>
                  <a:lnTo>
                    <a:pt x="5028437" y="664903"/>
                  </a:lnTo>
                  <a:lnTo>
                    <a:pt x="5025112" y="681477"/>
                  </a:lnTo>
                  <a:lnTo>
                    <a:pt x="5002782" y="726956"/>
                  </a:lnTo>
                  <a:lnTo>
                    <a:pt x="4964760" y="760310"/>
                  </a:lnTo>
                  <a:lnTo>
                    <a:pt x="4916873" y="776464"/>
                  </a:lnTo>
                  <a:lnTo>
                    <a:pt x="4899964" y="777595"/>
                  </a:lnTo>
                  <a:lnTo>
                    <a:pt x="129603" y="777595"/>
                  </a:lnTo>
                  <a:lnTo>
                    <a:pt x="80095" y="767721"/>
                  </a:lnTo>
                  <a:lnTo>
                    <a:pt x="37941" y="739660"/>
                  </a:lnTo>
                  <a:lnTo>
                    <a:pt x="9874" y="697510"/>
                  </a:lnTo>
                  <a:lnTo>
                    <a:pt x="0" y="647992"/>
                  </a:lnTo>
                  <a:lnTo>
                    <a:pt x="368" y="129590"/>
                  </a:lnTo>
                  <a:close/>
                </a:path>
              </a:pathLst>
            </a:custGeom>
            <a:noFill/>
            <a:ln w="19079">
              <a:solidFill>
                <a:srgbClr val="FB91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23" name="object 18"/>
            <p:cNvPicPr/>
            <p:nvPr/>
          </p:nvPicPr>
          <p:blipFill>
            <a:blip r:embed="rId5"/>
            <a:stretch/>
          </p:blipFill>
          <p:spPr>
            <a:xfrm>
              <a:off x="681480" y="2990880"/>
              <a:ext cx="5128200" cy="8758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4" name="object 19"/>
            <p:cNvSpPr/>
            <p:nvPr/>
          </p:nvSpPr>
          <p:spPr>
            <a:xfrm>
              <a:off x="730800" y="3017160"/>
              <a:ext cx="5029560" cy="7776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502983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4899964" y="777595"/>
                  </a:lnTo>
                  <a:lnTo>
                    <a:pt x="4949472" y="767721"/>
                  </a:lnTo>
                  <a:lnTo>
                    <a:pt x="4991627" y="739660"/>
                  </a:lnTo>
                  <a:lnTo>
                    <a:pt x="5019693" y="697510"/>
                  </a:lnTo>
                  <a:lnTo>
                    <a:pt x="5029568" y="647992"/>
                  </a:lnTo>
                  <a:lnTo>
                    <a:pt x="5029543" y="129590"/>
                  </a:lnTo>
                  <a:lnTo>
                    <a:pt x="5019693" y="80440"/>
                  </a:lnTo>
                  <a:lnTo>
                    <a:pt x="4991627" y="38290"/>
                  </a:lnTo>
                  <a:lnTo>
                    <a:pt x="4949472" y="10230"/>
                  </a:lnTo>
                  <a:lnTo>
                    <a:pt x="48999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object 20"/>
            <p:cNvSpPr/>
            <p:nvPr/>
          </p:nvSpPr>
          <p:spPr>
            <a:xfrm>
              <a:off x="730800" y="3017160"/>
              <a:ext cx="5029560" cy="7776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5029835" h="777875">
                  <a:moveTo>
                    <a:pt x="368" y="129590"/>
                  </a:moveTo>
                  <a:lnTo>
                    <a:pt x="1498" y="112687"/>
                  </a:lnTo>
                  <a:lnTo>
                    <a:pt x="4822" y="96116"/>
                  </a:lnTo>
                  <a:lnTo>
                    <a:pt x="27141" y="50636"/>
                  </a:lnTo>
                  <a:lnTo>
                    <a:pt x="65163" y="17272"/>
                  </a:lnTo>
                  <a:lnTo>
                    <a:pt x="113055" y="1130"/>
                  </a:lnTo>
                  <a:lnTo>
                    <a:pt x="129959" y="0"/>
                  </a:lnTo>
                  <a:lnTo>
                    <a:pt x="4899964" y="355"/>
                  </a:lnTo>
                  <a:lnTo>
                    <a:pt x="4949472" y="10230"/>
                  </a:lnTo>
                  <a:lnTo>
                    <a:pt x="4991627" y="38290"/>
                  </a:lnTo>
                  <a:lnTo>
                    <a:pt x="5019693" y="80440"/>
                  </a:lnTo>
                  <a:lnTo>
                    <a:pt x="5029568" y="129959"/>
                  </a:lnTo>
                  <a:lnTo>
                    <a:pt x="5029568" y="647992"/>
                  </a:lnTo>
                  <a:lnTo>
                    <a:pt x="5028437" y="664903"/>
                  </a:lnTo>
                  <a:lnTo>
                    <a:pt x="5025112" y="681477"/>
                  </a:lnTo>
                  <a:lnTo>
                    <a:pt x="5002782" y="726956"/>
                  </a:lnTo>
                  <a:lnTo>
                    <a:pt x="4964760" y="760310"/>
                  </a:lnTo>
                  <a:lnTo>
                    <a:pt x="4916873" y="776464"/>
                  </a:lnTo>
                  <a:lnTo>
                    <a:pt x="4899964" y="777595"/>
                  </a:lnTo>
                  <a:lnTo>
                    <a:pt x="129603" y="777595"/>
                  </a:lnTo>
                  <a:lnTo>
                    <a:pt x="80095" y="767721"/>
                  </a:lnTo>
                  <a:lnTo>
                    <a:pt x="37941" y="739660"/>
                  </a:lnTo>
                  <a:lnTo>
                    <a:pt x="9874" y="697510"/>
                  </a:lnTo>
                  <a:lnTo>
                    <a:pt x="0" y="647992"/>
                  </a:lnTo>
                  <a:lnTo>
                    <a:pt x="368" y="129590"/>
                  </a:lnTo>
                  <a:close/>
                </a:path>
              </a:pathLst>
            </a:custGeom>
            <a:noFill/>
            <a:ln w="19079">
              <a:solidFill>
                <a:srgbClr val="37BD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6" name="object 21"/>
          <p:cNvSpPr/>
          <p:nvPr/>
        </p:nvSpPr>
        <p:spPr>
          <a:xfrm>
            <a:off x="1082880" y="1161720"/>
            <a:ext cx="3505320" cy="24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7360" rIns="0" bIns="0" anchor="t">
            <a:spAutoFit/>
          </a:bodyPr>
          <a:p>
            <a:pPr marL="12600">
              <a:lnSpc>
                <a:spcPct val="100000"/>
              </a:lnSpc>
              <a:spcBef>
                <a:spcPts val="924"/>
              </a:spcBef>
            </a:pPr>
            <a:r>
              <a:rPr lang="en-US" sz="15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Stage</a:t>
            </a:r>
            <a:r>
              <a:rPr lang="en-US" sz="1500" b="1" u="none" spc="-51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1:</a:t>
            </a:r>
            <a:r>
              <a:rPr lang="en-US" sz="1500" b="1" u="none" spc="-40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pc="-20" strike="noStrike">
                <a:solidFill>
                  <a:srgbClr val="49DE7F"/>
                </a:solidFill>
                <a:effectLst/>
                <a:uFillTx/>
                <a:latin typeface="Calibri"/>
              </a:rPr>
              <a:t>Test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20"/>
              </a:spcBef>
            </a:pP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Python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3.12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+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Node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20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→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Pytest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+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Vite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Build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531"/>
              </a:spcBef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500" b="1" u="none" strike="noStrike">
                <a:solidFill>
                  <a:srgbClr val="FB913B"/>
                </a:solidFill>
                <a:effectLst/>
                <a:uFillTx/>
                <a:latin typeface="Calibri"/>
              </a:rPr>
              <a:t>Stage</a:t>
            </a:r>
            <a:r>
              <a:rPr lang="en-US" sz="1500" b="1" u="none" spc="-34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trike="noStrike">
                <a:solidFill>
                  <a:srgbClr val="FB913B"/>
                </a:solidFill>
                <a:effectLst/>
                <a:uFillTx/>
                <a:latin typeface="Calibri"/>
              </a:rPr>
              <a:t>2:</a:t>
            </a:r>
            <a:r>
              <a:rPr lang="en-US" sz="1500" b="1" u="none" spc="-34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trike="noStrike">
                <a:solidFill>
                  <a:srgbClr val="FB913B"/>
                </a:solidFill>
                <a:effectLst/>
                <a:uFillTx/>
                <a:latin typeface="Calibri"/>
              </a:rPr>
              <a:t>Scan</a:t>
            </a:r>
            <a:r>
              <a:rPr lang="en-US" sz="1500" b="1" u="none" spc="-34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trike="noStrike">
                <a:solidFill>
                  <a:srgbClr val="FB913B"/>
                </a:solidFill>
                <a:effectLst/>
                <a:uFillTx/>
                <a:latin typeface="Calibri"/>
              </a:rPr>
              <a:t>&amp;</a:t>
            </a:r>
            <a:r>
              <a:rPr lang="en-US" sz="1500" b="1" u="none" spc="-31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pc="-11" strike="noStrike">
                <a:solidFill>
                  <a:srgbClr val="FB913B"/>
                </a:solidFill>
                <a:effectLst/>
                <a:uFillTx/>
                <a:latin typeface="Calibri"/>
              </a:rPr>
              <a:t>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14"/>
              </a:spcBef>
            </a:pP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Docker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multi-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stage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build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→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Trivy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Scan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→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GHCR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Push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536"/>
              </a:spcBef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500" b="1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Stage</a:t>
            </a:r>
            <a:r>
              <a:rPr lang="en-US" sz="1500" b="1" u="none" spc="-40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3:</a:t>
            </a:r>
            <a:r>
              <a:rPr lang="en-US" sz="1500" b="1" u="none" spc="-40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pc="-11" strike="noStrike">
                <a:solidFill>
                  <a:srgbClr val="37BDF7"/>
                </a:solidFill>
                <a:effectLst/>
                <a:uFillTx/>
                <a:latin typeface="Calibri"/>
              </a:rPr>
              <a:t>Deploy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20"/>
              </a:spcBef>
            </a:pP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Helm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lint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&amp;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dry-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run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template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validation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object 22" descr="image.png"/>
          <p:cNvPicPr/>
          <p:nvPr/>
        </p:nvPicPr>
        <p:blipFill>
          <a:blip r:embed="rId6"/>
          <a:stretch/>
        </p:blipFill>
        <p:spPr>
          <a:xfrm>
            <a:off x="6217920" y="1096920"/>
            <a:ext cx="5485680" cy="25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object 23" descr="image2.png"/>
          <p:cNvPicPr/>
          <p:nvPr/>
        </p:nvPicPr>
        <p:blipFill>
          <a:blip r:embed="rId7"/>
          <a:stretch/>
        </p:blipFill>
        <p:spPr>
          <a:xfrm>
            <a:off x="6217920" y="3840120"/>
            <a:ext cx="5485680" cy="25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F77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0" name="object 3"/>
          <p:cNvGrpSpPr/>
          <p:nvPr/>
        </p:nvGrpSpPr>
        <p:grpSpPr>
          <a:xfrm>
            <a:off x="600120" y="439920"/>
            <a:ext cx="1725480" cy="444960"/>
            <a:chOff x="600120" y="439920"/>
            <a:chExt cx="1725480" cy="444960"/>
          </a:xfrm>
        </p:grpSpPr>
        <p:pic>
          <p:nvPicPr>
            <p:cNvPr id="231" name="object 4"/>
            <p:cNvPicPr/>
            <p:nvPr/>
          </p:nvPicPr>
          <p:blipFill>
            <a:blip r:embed="rId1"/>
            <a:stretch/>
          </p:blipFill>
          <p:spPr>
            <a:xfrm>
              <a:off x="600120" y="43992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2" name="object 5"/>
            <p:cNvSpPr/>
            <p:nvPr/>
          </p:nvSpPr>
          <p:spPr>
            <a:xfrm>
              <a:off x="640080" y="45684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45" y="0"/>
                  </a:lnTo>
                  <a:lnTo>
                    <a:pt x="52062" y="533"/>
                  </a:lnTo>
                  <a:lnTo>
                    <a:pt x="52682" y="533"/>
                  </a:lnTo>
                  <a:lnTo>
                    <a:pt x="45181" y="1931"/>
                  </a:lnTo>
                  <a:lnTo>
                    <a:pt x="12727" y="23710"/>
                  </a:lnTo>
                  <a:lnTo>
                    <a:pt x="0" y="60833"/>
                  </a:lnTo>
                  <a:lnTo>
                    <a:pt x="0" y="304914"/>
                  </a:lnTo>
                  <a:lnTo>
                    <a:pt x="12321" y="341679"/>
                  </a:lnTo>
                  <a:lnTo>
                    <a:pt x="12422" y="341829"/>
                  </a:lnTo>
                  <a:lnTo>
                    <a:pt x="17610" y="347664"/>
                  </a:lnTo>
                  <a:lnTo>
                    <a:pt x="17729" y="347797"/>
                  </a:lnTo>
                  <a:lnTo>
                    <a:pt x="23712" y="353024"/>
                  </a:lnTo>
                  <a:lnTo>
                    <a:pt x="60845" y="365760"/>
                  </a:lnTo>
                  <a:lnTo>
                    <a:pt x="1585074" y="365391"/>
                  </a:lnTo>
                  <a:lnTo>
                    <a:pt x="1621927" y="353024"/>
                  </a:lnTo>
                  <a:lnTo>
                    <a:pt x="1641130" y="328102"/>
                  </a:lnTo>
                  <a:lnTo>
                    <a:pt x="1641210" y="327941"/>
                  </a:lnTo>
                  <a:lnTo>
                    <a:pt x="1645896" y="304914"/>
                  </a:lnTo>
                  <a:lnTo>
                    <a:pt x="1645920" y="304558"/>
                  </a:lnTo>
                  <a:lnTo>
                    <a:pt x="1645564" y="60833"/>
                  </a:lnTo>
                  <a:lnTo>
                    <a:pt x="1633140" y="23918"/>
                  </a:lnTo>
                  <a:lnTo>
                    <a:pt x="1600560" y="2111"/>
                  </a:lnTo>
                  <a:lnTo>
                    <a:pt x="1592738" y="533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F7707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3" name="object 6"/>
          <p:cNvSpPr/>
          <p:nvPr/>
        </p:nvSpPr>
        <p:spPr>
          <a:xfrm>
            <a:off x="1353600" y="54324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DevSecOps</a:t>
            </a:r>
            <a:r>
              <a:rPr lang="en-US" sz="3200" b="1" u="none" spc="-54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</a:t>
            </a:r>
            <a:r>
              <a:rPr lang="en-US" sz="3200" b="1" u="none" spc="-54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Security</a:t>
            </a:r>
            <a:r>
              <a:rPr lang="en-US" sz="3200" b="1" u="none" spc="-5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Auditing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35" name="object 8"/>
          <p:cNvGrpSpPr/>
          <p:nvPr/>
        </p:nvGrpSpPr>
        <p:grpSpPr>
          <a:xfrm>
            <a:off x="2474280" y="858960"/>
            <a:ext cx="2136960" cy="117000"/>
            <a:chOff x="2474280" y="858960"/>
            <a:chExt cx="2136960" cy="117000"/>
          </a:xfrm>
        </p:grpSpPr>
        <p:pic>
          <p:nvPicPr>
            <p:cNvPr id="236" name="object 9"/>
            <p:cNvPicPr/>
            <p:nvPr/>
          </p:nvPicPr>
          <p:blipFill>
            <a:blip r:embed="rId2"/>
            <a:stretch/>
          </p:blipFill>
          <p:spPr>
            <a:xfrm>
              <a:off x="2474280" y="858960"/>
              <a:ext cx="213696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7" name="object 10"/>
            <p:cNvSpPr/>
            <p:nvPr/>
          </p:nvSpPr>
          <p:spPr>
            <a:xfrm>
              <a:off x="2514240" y="875880"/>
              <a:ext cx="2057040" cy="37800"/>
            </a:xfrm>
            <a:custGeom>
              <a:avLst/>
              <a:gdLst>
                <a:gd name="textAreaLeft" fmla="*/ 0 w 2057040"/>
                <a:gd name="textAreaRight" fmla="*/ 2057400 w 20570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2057400" h="38100">
                  <a:moveTo>
                    <a:pt x="2057399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1028877" y="37795"/>
                  </a:lnTo>
                  <a:lnTo>
                    <a:pt x="2057399" y="37795"/>
                  </a:lnTo>
                  <a:lnTo>
                    <a:pt x="2057399" y="0"/>
                  </a:lnTo>
                  <a:close/>
                </a:path>
              </a:pathLst>
            </a:custGeom>
            <a:solidFill>
              <a:srgbClr val="F7707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8" name="object 11"/>
          <p:cNvGrpSpPr/>
          <p:nvPr/>
        </p:nvGrpSpPr>
        <p:grpSpPr>
          <a:xfrm>
            <a:off x="681480" y="1162080"/>
            <a:ext cx="5127840" cy="3866040"/>
            <a:chOff x="681480" y="1162080"/>
            <a:chExt cx="5127840" cy="3866040"/>
          </a:xfrm>
        </p:grpSpPr>
        <p:pic>
          <p:nvPicPr>
            <p:cNvPr id="239" name="object 12"/>
            <p:cNvPicPr/>
            <p:nvPr/>
          </p:nvPicPr>
          <p:blipFill>
            <a:blip r:embed="rId3"/>
            <a:stretch/>
          </p:blipFill>
          <p:spPr>
            <a:xfrm>
              <a:off x="681480" y="116208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0" name="object 13"/>
            <p:cNvSpPr/>
            <p:nvPr/>
          </p:nvSpPr>
          <p:spPr>
            <a:xfrm>
              <a:off x="730800" y="118836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19"/>
                  </a:lnTo>
                  <a:lnTo>
                    <a:pt x="67882" y="650441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object 14"/>
            <p:cNvSpPr/>
            <p:nvPr/>
          </p:nvSpPr>
          <p:spPr>
            <a:xfrm>
              <a:off x="730800" y="118836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F7707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42" name="object 15"/>
            <p:cNvPicPr/>
            <p:nvPr/>
          </p:nvPicPr>
          <p:blipFill>
            <a:blip r:embed="rId4"/>
            <a:stretch/>
          </p:blipFill>
          <p:spPr>
            <a:xfrm>
              <a:off x="681480" y="1939320"/>
              <a:ext cx="5127840" cy="756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3" name="object 16"/>
            <p:cNvSpPr/>
            <p:nvPr/>
          </p:nvSpPr>
          <p:spPr>
            <a:xfrm>
              <a:off x="730800" y="196560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object 17"/>
            <p:cNvSpPr/>
            <p:nvPr/>
          </p:nvSpPr>
          <p:spPr>
            <a:xfrm>
              <a:off x="730800" y="196560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F7707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45" name="object 18"/>
            <p:cNvPicPr/>
            <p:nvPr/>
          </p:nvPicPr>
          <p:blipFill>
            <a:blip r:embed="rId5"/>
            <a:stretch/>
          </p:blipFill>
          <p:spPr>
            <a:xfrm>
              <a:off x="681480" y="271656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6" name="object 19"/>
            <p:cNvSpPr/>
            <p:nvPr/>
          </p:nvSpPr>
          <p:spPr>
            <a:xfrm>
              <a:off x="730800" y="274284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object 20"/>
            <p:cNvSpPr/>
            <p:nvPr/>
          </p:nvSpPr>
          <p:spPr>
            <a:xfrm>
              <a:off x="730800" y="274284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F7707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48" name="object 21"/>
            <p:cNvPicPr/>
            <p:nvPr/>
          </p:nvPicPr>
          <p:blipFill>
            <a:blip r:embed="rId6"/>
            <a:stretch/>
          </p:blipFill>
          <p:spPr>
            <a:xfrm>
              <a:off x="681480" y="349380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9" name="object 22"/>
            <p:cNvSpPr/>
            <p:nvPr/>
          </p:nvSpPr>
          <p:spPr>
            <a:xfrm>
              <a:off x="730800" y="352008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59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object 23"/>
            <p:cNvSpPr/>
            <p:nvPr/>
          </p:nvSpPr>
          <p:spPr>
            <a:xfrm>
              <a:off x="730800" y="352008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59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F7707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51" name="object 24"/>
            <p:cNvPicPr/>
            <p:nvPr/>
          </p:nvPicPr>
          <p:blipFill>
            <a:blip r:embed="rId7"/>
            <a:stretch/>
          </p:blipFill>
          <p:spPr>
            <a:xfrm>
              <a:off x="681480" y="427104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2" name="object 25"/>
            <p:cNvSpPr/>
            <p:nvPr/>
          </p:nvSpPr>
          <p:spPr>
            <a:xfrm>
              <a:off x="730800" y="429732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59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object 26"/>
            <p:cNvSpPr/>
            <p:nvPr/>
          </p:nvSpPr>
          <p:spPr>
            <a:xfrm>
              <a:off x="730800" y="429732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59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F7707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4" name="object 27"/>
          <p:cNvSpPr/>
          <p:nvPr/>
        </p:nvSpPr>
        <p:spPr>
          <a:xfrm>
            <a:off x="1082880" y="1159920"/>
            <a:ext cx="2934720" cy="36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7120" rIns="0" bIns="0" anchor="t">
            <a:spAutoFit/>
          </a:bodyPr>
          <a:p>
            <a:pPr marL="12600">
              <a:lnSpc>
                <a:spcPct val="100000"/>
              </a:lnSpc>
              <a:spcBef>
                <a:spcPts val="686"/>
              </a:spcBef>
            </a:pPr>
            <a:r>
              <a:rPr lang="en-US" sz="1650" b="0" u="none" spc="261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🔍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Bandit</a:t>
            </a:r>
            <a:r>
              <a:rPr lang="en-US" sz="14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 SAST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31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Static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analysis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of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Python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code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0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issues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found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650" b="0" u="none" spc="261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📦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pip-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audit </a:t>
            </a:r>
            <a:r>
              <a:rPr lang="en-US" sz="14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SCA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25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Dependency</a:t>
            </a:r>
            <a:r>
              <a:rPr lang="en-US" sz="12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CVE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scanning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0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vulnerabilities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650" b="0" u="none" spc="261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🐳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Trivy</a:t>
            </a:r>
            <a:r>
              <a:rPr lang="en-US" sz="1400" b="1" u="none" spc="-3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Scanner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25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Container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image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vulnerability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scanning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in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CI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650" b="0" u="none" spc="261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🔒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Network</a:t>
            </a:r>
            <a:r>
              <a:rPr lang="en-US" sz="1400" b="1" u="none" spc="-5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Policies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25"/>
              </a:spcBef>
            </a:pP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Zero-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trust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 pod-to-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pod</a:t>
            </a:r>
            <a:r>
              <a:rPr lang="en-US" sz="12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traffic</a:t>
            </a:r>
            <a:r>
              <a:rPr lang="en-US" sz="12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restrictions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650" b="0" u="none" spc="261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👤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Non-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root</a:t>
            </a:r>
            <a:r>
              <a:rPr lang="en-US" sz="1400" b="1" u="none" spc="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Containers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25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All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containers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run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as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unprivileged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users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object 28" descr="image.png"/>
          <p:cNvPicPr/>
          <p:nvPr/>
        </p:nvPicPr>
        <p:blipFill>
          <a:blip r:embed="rId8"/>
          <a:stretch/>
        </p:blipFill>
        <p:spPr>
          <a:xfrm>
            <a:off x="6217920" y="1096920"/>
            <a:ext cx="5485680" cy="25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object 29" descr="image2.png"/>
          <p:cNvPicPr/>
          <p:nvPr/>
        </p:nvPicPr>
        <p:blipFill>
          <a:blip r:embed="rId9"/>
          <a:stretch/>
        </p:blipFill>
        <p:spPr>
          <a:xfrm>
            <a:off x="6217920" y="3840120"/>
            <a:ext cx="5485680" cy="25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2CD3B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8" name="object 3"/>
          <p:cNvGrpSpPr/>
          <p:nvPr/>
        </p:nvGrpSpPr>
        <p:grpSpPr>
          <a:xfrm>
            <a:off x="416880" y="439920"/>
            <a:ext cx="1725480" cy="444960"/>
            <a:chOff x="416880" y="439920"/>
            <a:chExt cx="1725480" cy="444960"/>
          </a:xfrm>
        </p:grpSpPr>
        <p:pic>
          <p:nvPicPr>
            <p:cNvPr id="259" name="object 4"/>
            <p:cNvPicPr/>
            <p:nvPr/>
          </p:nvPicPr>
          <p:blipFill>
            <a:blip r:embed="rId1"/>
            <a:stretch/>
          </p:blipFill>
          <p:spPr>
            <a:xfrm>
              <a:off x="416880" y="43992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0" name="object 5"/>
            <p:cNvSpPr/>
            <p:nvPr/>
          </p:nvSpPr>
          <p:spPr>
            <a:xfrm>
              <a:off x="456840" y="45684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32" y="0"/>
                  </a:lnTo>
                  <a:lnTo>
                    <a:pt x="52051" y="533"/>
                  </a:lnTo>
                  <a:lnTo>
                    <a:pt x="52671" y="533"/>
                  </a:lnTo>
                  <a:lnTo>
                    <a:pt x="45175" y="1931"/>
                  </a:lnTo>
                  <a:lnTo>
                    <a:pt x="12727" y="23710"/>
                  </a:lnTo>
                  <a:lnTo>
                    <a:pt x="0" y="60833"/>
                  </a:lnTo>
                  <a:lnTo>
                    <a:pt x="0" y="304914"/>
                  </a:lnTo>
                  <a:lnTo>
                    <a:pt x="464" y="312576"/>
                  </a:lnTo>
                  <a:lnTo>
                    <a:pt x="477" y="312778"/>
                  </a:lnTo>
                  <a:lnTo>
                    <a:pt x="1897" y="320394"/>
                  </a:lnTo>
                  <a:lnTo>
                    <a:pt x="1931" y="320576"/>
                  </a:lnTo>
                  <a:lnTo>
                    <a:pt x="4346" y="327941"/>
                  </a:lnTo>
                  <a:lnTo>
                    <a:pt x="4398" y="328102"/>
                  </a:lnTo>
                  <a:lnTo>
                    <a:pt x="7912" y="335153"/>
                  </a:lnTo>
                  <a:lnTo>
                    <a:pt x="12310" y="341679"/>
                  </a:lnTo>
                  <a:lnTo>
                    <a:pt x="12411" y="341829"/>
                  </a:lnTo>
                  <a:lnTo>
                    <a:pt x="44997" y="363643"/>
                  </a:lnTo>
                  <a:lnTo>
                    <a:pt x="60832" y="365760"/>
                  </a:lnTo>
                  <a:lnTo>
                    <a:pt x="1585074" y="365391"/>
                  </a:lnTo>
                  <a:lnTo>
                    <a:pt x="1621915" y="353024"/>
                  </a:lnTo>
                  <a:lnTo>
                    <a:pt x="1641130" y="328102"/>
                  </a:lnTo>
                  <a:lnTo>
                    <a:pt x="1641210" y="327941"/>
                  </a:lnTo>
                  <a:lnTo>
                    <a:pt x="1645896" y="304914"/>
                  </a:lnTo>
                  <a:lnTo>
                    <a:pt x="1645920" y="304558"/>
                  </a:lnTo>
                  <a:lnTo>
                    <a:pt x="1645551" y="60833"/>
                  </a:lnTo>
                  <a:lnTo>
                    <a:pt x="1633134" y="23918"/>
                  </a:lnTo>
                  <a:lnTo>
                    <a:pt x="1600554" y="2111"/>
                  </a:lnTo>
                  <a:lnTo>
                    <a:pt x="1592736" y="533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2CD3B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1" name="object 6"/>
          <p:cNvSpPr/>
          <p:nvPr/>
        </p:nvSpPr>
        <p:spPr>
          <a:xfrm>
            <a:off x="1170360" y="54324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pc="-45" strike="noStrike">
                <a:solidFill>
                  <a:schemeClr val="lt1"/>
                </a:solidFill>
                <a:effectLst/>
                <a:uFillTx/>
                <a:latin typeface="Calibri"/>
              </a:rPr>
              <a:t>Terraform</a:t>
            </a:r>
            <a:r>
              <a:rPr lang="en-US" sz="3200" b="1" u="none" spc="-74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</a:t>
            </a:r>
            <a:r>
              <a:rPr lang="en-US" sz="3200" b="1" u="none" spc="-74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</a:t>
            </a:r>
            <a:r>
              <a:rPr lang="en-US" sz="3200" b="1" u="none" spc="-74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Infrastructure</a:t>
            </a:r>
            <a:r>
              <a:rPr lang="en-US" sz="3200" b="1" u="none" spc="-74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as</a:t>
            </a:r>
            <a:r>
              <a:rPr lang="en-US" sz="3200" b="1" u="none" spc="-74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20" strike="noStrike">
                <a:solidFill>
                  <a:schemeClr val="lt1"/>
                </a:solidFill>
                <a:effectLst/>
                <a:uFillTx/>
                <a:latin typeface="Calibri"/>
              </a:rPr>
              <a:t>Code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63" name="object 8"/>
          <p:cNvGrpSpPr/>
          <p:nvPr/>
        </p:nvGrpSpPr>
        <p:grpSpPr>
          <a:xfrm>
            <a:off x="2474640" y="896760"/>
            <a:ext cx="1908360" cy="117000"/>
            <a:chOff x="2474640" y="896760"/>
            <a:chExt cx="1908360" cy="117000"/>
          </a:xfrm>
        </p:grpSpPr>
        <p:pic>
          <p:nvPicPr>
            <p:cNvPr id="264" name="object 9"/>
            <p:cNvPicPr/>
            <p:nvPr/>
          </p:nvPicPr>
          <p:blipFill>
            <a:blip r:embed="rId2"/>
            <a:stretch/>
          </p:blipFill>
          <p:spPr>
            <a:xfrm>
              <a:off x="2474640" y="896760"/>
              <a:ext cx="190836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5" name="object 10"/>
            <p:cNvSpPr/>
            <p:nvPr/>
          </p:nvSpPr>
          <p:spPr>
            <a:xfrm>
              <a:off x="2514600" y="913680"/>
              <a:ext cx="1828440" cy="37800"/>
            </a:xfrm>
            <a:custGeom>
              <a:avLst/>
              <a:gdLst>
                <a:gd name="textAreaLeft" fmla="*/ 0 w 1828440"/>
                <a:gd name="textAreaRight" fmla="*/ 1828800 w 18284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828800" h="38100">
                  <a:moveTo>
                    <a:pt x="1828800" y="0"/>
                  </a:moveTo>
                  <a:lnTo>
                    <a:pt x="0" y="0"/>
                  </a:lnTo>
                  <a:lnTo>
                    <a:pt x="0" y="37807"/>
                  </a:lnTo>
                  <a:lnTo>
                    <a:pt x="914400" y="37807"/>
                  </a:lnTo>
                  <a:lnTo>
                    <a:pt x="1828800" y="37807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2CD3B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6" name="object 11"/>
          <p:cNvGrpSpPr/>
          <p:nvPr/>
        </p:nvGrpSpPr>
        <p:grpSpPr>
          <a:xfrm>
            <a:off x="681480" y="1162080"/>
            <a:ext cx="5127840" cy="3088800"/>
            <a:chOff x="681480" y="1162080"/>
            <a:chExt cx="5127840" cy="3088800"/>
          </a:xfrm>
        </p:grpSpPr>
        <p:pic>
          <p:nvPicPr>
            <p:cNvPr id="267" name="object 12"/>
            <p:cNvPicPr/>
            <p:nvPr/>
          </p:nvPicPr>
          <p:blipFill>
            <a:blip r:embed="rId3"/>
            <a:stretch/>
          </p:blipFill>
          <p:spPr>
            <a:xfrm>
              <a:off x="681480" y="116208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8" name="object 13"/>
            <p:cNvSpPr/>
            <p:nvPr/>
          </p:nvSpPr>
          <p:spPr>
            <a:xfrm>
              <a:off x="730800" y="118836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19"/>
                  </a:lnTo>
                  <a:lnTo>
                    <a:pt x="67882" y="650441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object 14"/>
            <p:cNvSpPr/>
            <p:nvPr/>
          </p:nvSpPr>
          <p:spPr>
            <a:xfrm>
              <a:off x="730800" y="118836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37BDF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70" name="object 15"/>
            <p:cNvPicPr/>
            <p:nvPr/>
          </p:nvPicPr>
          <p:blipFill>
            <a:blip r:embed="rId4"/>
            <a:stretch/>
          </p:blipFill>
          <p:spPr>
            <a:xfrm>
              <a:off x="681480" y="1939320"/>
              <a:ext cx="5127840" cy="756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1" name="object 16"/>
            <p:cNvSpPr/>
            <p:nvPr/>
          </p:nvSpPr>
          <p:spPr>
            <a:xfrm>
              <a:off x="730800" y="196560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object 17"/>
            <p:cNvSpPr/>
            <p:nvPr/>
          </p:nvSpPr>
          <p:spPr>
            <a:xfrm>
              <a:off x="730800" y="196560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73" name="object 18"/>
            <p:cNvPicPr/>
            <p:nvPr/>
          </p:nvPicPr>
          <p:blipFill>
            <a:blip r:embed="rId5"/>
            <a:stretch/>
          </p:blipFill>
          <p:spPr>
            <a:xfrm>
              <a:off x="681480" y="271656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4" name="object 19"/>
            <p:cNvSpPr/>
            <p:nvPr/>
          </p:nvSpPr>
          <p:spPr>
            <a:xfrm>
              <a:off x="730800" y="274284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object 20"/>
            <p:cNvSpPr/>
            <p:nvPr/>
          </p:nvSpPr>
          <p:spPr>
            <a:xfrm>
              <a:off x="730800" y="274284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FB91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76" name="object 21"/>
            <p:cNvPicPr/>
            <p:nvPr/>
          </p:nvPicPr>
          <p:blipFill>
            <a:blip r:embed="rId6"/>
            <a:stretch/>
          </p:blipFill>
          <p:spPr>
            <a:xfrm>
              <a:off x="681480" y="349380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7" name="object 22"/>
            <p:cNvSpPr/>
            <p:nvPr/>
          </p:nvSpPr>
          <p:spPr>
            <a:xfrm>
              <a:off x="730800" y="352008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59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object 23"/>
            <p:cNvSpPr/>
            <p:nvPr/>
          </p:nvSpPr>
          <p:spPr>
            <a:xfrm>
              <a:off x="730800" y="352008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59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A78AF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9" name="object 24"/>
          <p:cNvGrpSpPr/>
          <p:nvPr/>
        </p:nvGrpSpPr>
        <p:grpSpPr>
          <a:xfrm>
            <a:off x="874080" y="4554720"/>
            <a:ext cx="3737160" cy="627840"/>
            <a:chOff x="874080" y="4554720"/>
            <a:chExt cx="3737160" cy="627840"/>
          </a:xfrm>
        </p:grpSpPr>
        <p:pic>
          <p:nvPicPr>
            <p:cNvPr id="280" name="object 25"/>
            <p:cNvPicPr/>
            <p:nvPr/>
          </p:nvPicPr>
          <p:blipFill>
            <a:blip r:embed="rId7"/>
            <a:stretch/>
          </p:blipFill>
          <p:spPr>
            <a:xfrm>
              <a:off x="874080" y="4554720"/>
              <a:ext cx="3737160" cy="627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1" name="object 26"/>
            <p:cNvSpPr/>
            <p:nvPr/>
          </p:nvSpPr>
          <p:spPr>
            <a:xfrm>
              <a:off x="914040" y="4571640"/>
              <a:ext cx="3657240" cy="548280"/>
            </a:xfrm>
            <a:custGeom>
              <a:avLst/>
              <a:gdLst>
                <a:gd name="textAreaLeft" fmla="*/ 0 w 3657240"/>
                <a:gd name="textAreaRight" fmla="*/ 3657600 w 3657240"/>
                <a:gd name="textAreaTop" fmla="*/ 0 h 548280"/>
                <a:gd name="textAreaBottom" fmla="*/ 548640 h 548280"/>
              </a:gdLst>
              <a:ahLst/>
              <a:cxnLst/>
              <a:rect l="textAreaLeft" t="textAreaTop" r="textAreaRight" b="textAreaBottom"/>
              <a:pathLst>
                <a:path w="3657600" h="548639">
                  <a:moveTo>
                    <a:pt x="356579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457200"/>
                  </a:lnTo>
                  <a:lnTo>
                    <a:pt x="774" y="468838"/>
                  </a:lnTo>
                  <a:lnTo>
                    <a:pt x="798" y="469199"/>
                  </a:lnTo>
                  <a:lnTo>
                    <a:pt x="3075" y="480506"/>
                  </a:lnTo>
                  <a:lnTo>
                    <a:pt x="3148" y="480864"/>
                  </a:lnTo>
                  <a:lnTo>
                    <a:pt x="26679" y="521949"/>
                  </a:lnTo>
                  <a:lnTo>
                    <a:pt x="67765" y="545485"/>
                  </a:lnTo>
                  <a:lnTo>
                    <a:pt x="91440" y="548640"/>
                  </a:lnTo>
                  <a:lnTo>
                    <a:pt x="3566160" y="548271"/>
                  </a:lnTo>
                  <a:lnTo>
                    <a:pt x="3611880" y="536041"/>
                  </a:lnTo>
                  <a:lnTo>
                    <a:pt x="3645357" y="502551"/>
                  </a:lnTo>
                  <a:lnTo>
                    <a:pt x="3657575" y="457200"/>
                  </a:lnTo>
                  <a:lnTo>
                    <a:pt x="3657600" y="456831"/>
                  </a:lnTo>
                  <a:lnTo>
                    <a:pt x="3657231" y="91440"/>
                  </a:lnTo>
                  <a:lnTo>
                    <a:pt x="3645001" y="45720"/>
                  </a:lnTo>
                  <a:lnTo>
                    <a:pt x="3611511" y="12230"/>
                  </a:lnTo>
                  <a:lnTo>
                    <a:pt x="3577798" y="798"/>
                  </a:lnTo>
                  <a:lnTo>
                    <a:pt x="3565791" y="0"/>
                  </a:lnTo>
                  <a:close/>
                </a:path>
              </a:pathLst>
            </a:custGeom>
            <a:solidFill>
              <a:srgbClr val="2CD3B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2" name="object 27"/>
          <p:cNvSpPr/>
          <p:nvPr/>
        </p:nvSpPr>
        <p:spPr>
          <a:xfrm>
            <a:off x="1082880" y="1213560"/>
            <a:ext cx="3003840" cy="39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5520" rIns="0" bIns="0" anchor="t">
            <a:spAutoFit/>
          </a:bodyPr>
          <a:p>
            <a:pPr marL="12600">
              <a:lnSpc>
                <a:spcPct val="100000"/>
              </a:lnSpc>
              <a:spcBef>
                <a:spcPts val="516"/>
              </a:spcBef>
            </a:pPr>
            <a:r>
              <a:rPr lang="en-US" sz="1500" b="1" u="none" spc="-26" strike="noStrike">
                <a:solidFill>
                  <a:srgbClr val="37BDF7"/>
                </a:solidFill>
                <a:effectLst/>
                <a:uFillTx/>
                <a:latin typeface="Calibri"/>
              </a:rPr>
              <a:t>VPC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60"/>
              </a:spcBef>
            </a:pP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10.0.0.0/16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2</a:t>
            </a:r>
            <a:r>
              <a:rPr lang="en-US" sz="13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Public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+</a:t>
            </a:r>
            <a:r>
              <a:rPr lang="en-US" sz="13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2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Private</a:t>
            </a:r>
            <a:r>
              <a:rPr lang="en-US" sz="13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Subnets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11"/>
              </a:spcBef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500" b="1" u="none" spc="-11" strike="noStrike">
                <a:solidFill>
                  <a:srgbClr val="49DE7F"/>
                </a:solidFill>
                <a:effectLst/>
                <a:uFillTx/>
                <a:latin typeface="Calibri"/>
              </a:rPr>
              <a:t>Networking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66"/>
              </a:spcBef>
            </a:pP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Internet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GW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+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NAT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GW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with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Elastic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IP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11"/>
              </a:spcBef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US" sz="1500" b="1" u="none" strike="noStrike">
                <a:solidFill>
                  <a:srgbClr val="FB913B"/>
                </a:solidFill>
                <a:effectLst/>
                <a:uFillTx/>
                <a:latin typeface="Calibri"/>
              </a:rPr>
              <a:t>EKS</a:t>
            </a:r>
            <a:r>
              <a:rPr lang="en-US" sz="1500" b="1" u="none" spc="-51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pc="-11" strike="noStrike">
                <a:solidFill>
                  <a:srgbClr val="FB913B"/>
                </a:solidFill>
                <a:effectLst/>
                <a:uFillTx/>
                <a:latin typeface="Calibri"/>
              </a:rPr>
              <a:t>Cluster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60"/>
              </a:spcBef>
            </a:pP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v1.30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Managed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control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plane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+</a:t>
            </a:r>
            <a:r>
              <a:rPr lang="en-US" sz="13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IAM</a:t>
            </a:r>
            <a:r>
              <a:rPr lang="en-US" sz="13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roles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11"/>
              </a:spcBef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500" b="1" u="none" strike="noStrike">
                <a:solidFill>
                  <a:srgbClr val="A78AFA"/>
                </a:solidFill>
                <a:effectLst/>
                <a:uFillTx/>
                <a:latin typeface="Calibri"/>
              </a:rPr>
              <a:t>Node</a:t>
            </a:r>
            <a:r>
              <a:rPr lang="en-US" sz="1500" b="1" u="none" spc="-31" strike="noStrike">
                <a:solidFill>
                  <a:srgbClr val="A78AFA"/>
                </a:solidFill>
                <a:effectLst/>
                <a:uFillTx/>
                <a:latin typeface="Calibri"/>
              </a:rPr>
              <a:t> </a:t>
            </a:r>
            <a:r>
              <a:rPr lang="en-US" sz="1500" b="1" u="none" spc="-11" strike="noStrike">
                <a:solidFill>
                  <a:srgbClr val="A78AFA"/>
                </a:solidFill>
                <a:effectLst/>
                <a:uFillTx/>
                <a:latin typeface="Calibri"/>
              </a:rPr>
              <a:t>Group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60"/>
              </a:spcBef>
            </a:pP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Amazon</a:t>
            </a:r>
            <a:r>
              <a:rPr lang="en-US" sz="13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Linux</a:t>
            </a:r>
            <a:r>
              <a:rPr lang="en-US" sz="13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2023</a:t>
            </a:r>
            <a:r>
              <a:rPr lang="en-US" sz="13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EC2</a:t>
            </a:r>
            <a:r>
              <a:rPr lang="en-US" sz="13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in</a:t>
            </a:r>
            <a:r>
              <a:rPr lang="en-US" sz="13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private</a:t>
            </a:r>
            <a:r>
              <a:rPr lang="en-US" sz="13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3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subnets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2760" indent="-966600">
              <a:lnSpc>
                <a:spcPts val="2160"/>
              </a:lnSpc>
              <a:tabLst>
                <a:tab pos="0" algn="l"/>
              </a:tabLst>
            </a:pPr>
            <a:r>
              <a:rPr lang="en-US" sz="2100" b="0" u="none" spc="354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📦</a:t>
            </a:r>
            <a:r>
              <a:rPr lang="en-US" sz="2100" b="0" u="none" spc="-4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23</a:t>
            </a:r>
            <a:r>
              <a:rPr lang="en-US" sz="1800" b="1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Resources</a:t>
            </a:r>
            <a:r>
              <a:rPr lang="en-US" sz="1800" b="1" u="none" spc="-3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Planned</a:t>
            </a:r>
            <a:r>
              <a:rPr lang="en-US" sz="1800" b="1" u="none" spc="-3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</a:t>
            </a:r>
            <a:r>
              <a:rPr lang="en-US" sz="18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Applied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object 28" descr="image.png"/>
          <p:cNvPicPr/>
          <p:nvPr/>
        </p:nvPicPr>
        <p:blipFill>
          <a:blip r:embed="rId8"/>
          <a:stretch/>
        </p:blipFill>
        <p:spPr>
          <a:xfrm>
            <a:off x="6217920" y="1096920"/>
            <a:ext cx="5485680" cy="25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object 29" descr="apply.png"/>
          <p:cNvPicPr/>
          <p:nvPr/>
        </p:nvPicPr>
        <p:blipFill>
          <a:blip r:embed="rId9"/>
          <a:stretch/>
        </p:blipFill>
        <p:spPr>
          <a:xfrm>
            <a:off x="6217920" y="3840120"/>
            <a:ext cx="5485680" cy="25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object 2"/>
          <p:cNvSpPr/>
          <p:nvPr/>
        </p:nvSpPr>
        <p:spPr>
          <a:xfrm>
            <a:off x="1170360" y="48852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2637360" y="306360"/>
            <a:ext cx="640548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</a:t>
            </a:r>
            <a:r>
              <a:rPr lang="en-US" sz="3200" b="1" u="none" spc="-96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Console</a:t>
            </a:r>
            <a:r>
              <a:rPr lang="en-US" sz="3200" b="1" u="none" spc="-9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20" strike="noStrike">
                <a:solidFill>
                  <a:schemeClr val="lt1"/>
                </a:solidFill>
                <a:effectLst/>
                <a:uFillTx/>
                <a:latin typeface="Calibri"/>
              </a:rPr>
              <a:t>Verification</a:t>
            </a:r>
            <a:r>
              <a:rPr lang="en-US" sz="3200" b="1" u="none" spc="-9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&amp;</a:t>
            </a:r>
            <a:r>
              <a:rPr lang="en-US" sz="3200" b="1" u="none" spc="-9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Teardown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287" name="object 4"/>
          <p:cNvGrpSpPr/>
          <p:nvPr/>
        </p:nvGrpSpPr>
        <p:grpSpPr>
          <a:xfrm>
            <a:off x="2520360" y="896760"/>
            <a:ext cx="6663240" cy="117000"/>
            <a:chOff x="2520360" y="896760"/>
            <a:chExt cx="6663240" cy="117000"/>
          </a:xfrm>
        </p:grpSpPr>
        <p:pic>
          <p:nvPicPr>
            <p:cNvPr id="288" name="object 5"/>
            <p:cNvPicPr/>
            <p:nvPr/>
          </p:nvPicPr>
          <p:blipFill>
            <a:blip r:embed="rId1"/>
            <a:stretch/>
          </p:blipFill>
          <p:spPr>
            <a:xfrm>
              <a:off x="2520360" y="896760"/>
              <a:ext cx="666324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9" name="object 6"/>
            <p:cNvSpPr/>
            <p:nvPr/>
          </p:nvSpPr>
          <p:spPr>
            <a:xfrm>
              <a:off x="2560320" y="913680"/>
              <a:ext cx="6583320" cy="37800"/>
            </a:xfrm>
            <a:custGeom>
              <a:avLst/>
              <a:gdLst>
                <a:gd name="textAreaLeft" fmla="*/ 0 w 6583320"/>
                <a:gd name="textAreaRight" fmla="*/ 6583680 w 658332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6583680" h="38100">
                  <a:moveTo>
                    <a:pt x="6583680" y="0"/>
                  </a:moveTo>
                  <a:lnTo>
                    <a:pt x="0" y="0"/>
                  </a:lnTo>
                  <a:lnTo>
                    <a:pt x="0" y="37807"/>
                  </a:lnTo>
                  <a:lnTo>
                    <a:pt x="3291840" y="37807"/>
                  </a:lnTo>
                  <a:lnTo>
                    <a:pt x="6583680" y="37807"/>
                  </a:lnTo>
                  <a:lnTo>
                    <a:pt x="6583680" y="0"/>
                  </a:lnTo>
                  <a:close/>
                </a:path>
              </a:pathLst>
            </a:custGeom>
            <a:solidFill>
              <a:srgbClr val="2CD3B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0" name="object 7"/>
          <p:cNvSpPr/>
          <p:nvPr/>
        </p:nvSpPr>
        <p:spPr>
          <a:xfrm>
            <a:off x="808560" y="1220760"/>
            <a:ext cx="35733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EKS</a:t>
            </a:r>
            <a:r>
              <a:rPr lang="en-US" sz="1800" b="1" u="none" spc="-51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Cluster</a:t>
            </a:r>
            <a:r>
              <a:rPr lang="en-US" sz="1800" b="1" u="none" spc="-51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—</a:t>
            </a:r>
            <a:r>
              <a:rPr lang="en-US" sz="1800" b="1" u="none" spc="-45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Active</a:t>
            </a:r>
            <a:r>
              <a:rPr lang="en-US" sz="1800" b="1" u="none" spc="-51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on</a:t>
            </a:r>
            <a:r>
              <a:rPr lang="en-US" sz="1800" b="1" u="none" spc="-51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37BDF7"/>
                </a:solidFill>
                <a:effectLst/>
                <a:uFillTx/>
                <a:latin typeface="Calibri"/>
              </a:rPr>
              <a:t>AWS</a:t>
            </a:r>
            <a:r>
              <a:rPr lang="en-US" sz="1800" b="1" u="none" spc="-45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37BDF7"/>
                </a:solidFill>
                <a:effectLst/>
                <a:uFillTx/>
                <a:latin typeface="Calibri"/>
              </a:rPr>
              <a:t>Console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object 9"/>
          <p:cNvSpPr/>
          <p:nvPr/>
        </p:nvSpPr>
        <p:spPr>
          <a:xfrm>
            <a:off x="6294960" y="1220760"/>
            <a:ext cx="39193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VPC</a:t>
            </a:r>
            <a:r>
              <a:rPr lang="en-US" sz="1800" b="1" u="none" spc="-34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&amp;</a:t>
            </a:r>
            <a:r>
              <a:rPr lang="en-US" sz="1800" b="1" u="none" spc="-31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Subnets</a:t>
            </a:r>
            <a:r>
              <a:rPr lang="en-US" sz="1800" b="1" u="none" spc="-31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—</a:t>
            </a:r>
            <a:r>
              <a:rPr lang="en-US" sz="1800" b="1" u="none" spc="-31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Active</a:t>
            </a:r>
            <a:r>
              <a:rPr lang="en-US" sz="1800" b="1" u="none" spc="-31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49DE7F"/>
                </a:solidFill>
                <a:effectLst/>
                <a:uFillTx/>
                <a:latin typeface="Calibri"/>
              </a:rPr>
              <a:t>on</a:t>
            </a:r>
            <a:r>
              <a:rPr lang="en-US" sz="1800" b="1" u="none" spc="-31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49DE7F"/>
                </a:solidFill>
                <a:effectLst/>
                <a:uFillTx/>
                <a:latin typeface="Calibri"/>
              </a:rPr>
              <a:t>AWS</a:t>
            </a:r>
            <a:r>
              <a:rPr lang="en-US" sz="1800" b="1" u="none" spc="-34" strike="noStrike">
                <a:solidFill>
                  <a:srgbClr val="49DE7F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49DE7F"/>
                </a:solidFill>
                <a:effectLst/>
                <a:uFillTx/>
                <a:latin typeface="Calibri"/>
              </a:rPr>
              <a:t>Console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object 8" descr="eks.jpeg"/>
          <p:cNvPicPr/>
          <p:nvPr/>
        </p:nvPicPr>
        <p:blipFill>
          <a:blip r:embed="rId2"/>
          <a:stretch/>
        </p:blipFill>
        <p:spPr>
          <a:xfrm>
            <a:off x="731520" y="1737000"/>
            <a:ext cx="5028480" cy="201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object 10" descr="vpc1.jpeg"/>
          <p:cNvPicPr/>
          <p:nvPr/>
        </p:nvPicPr>
        <p:blipFill>
          <a:blip r:embed="rId3"/>
          <a:stretch/>
        </p:blipFill>
        <p:spPr>
          <a:xfrm>
            <a:off x="6217920" y="1737000"/>
            <a:ext cx="5028480" cy="201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object 11"/>
          <p:cNvSpPr/>
          <p:nvPr/>
        </p:nvSpPr>
        <p:spPr>
          <a:xfrm>
            <a:off x="808560" y="4146840"/>
            <a:ext cx="35348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trike="noStrike">
                <a:solidFill>
                  <a:srgbClr val="FB913B"/>
                </a:solidFill>
                <a:effectLst/>
                <a:uFillTx/>
                <a:latin typeface="Calibri"/>
              </a:rPr>
              <a:t>Clean</a:t>
            </a:r>
            <a:r>
              <a:rPr lang="en-US" sz="1800" b="1" u="none" spc="-34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20" strike="noStrike">
                <a:solidFill>
                  <a:srgbClr val="FB913B"/>
                </a:solidFill>
                <a:effectLst/>
                <a:uFillTx/>
                <a:latin typeface="Calibri"/>
              </a:rPr>
              <a:t>Teardown</a:t>
            </a:r>
            <a:r>
              <a:rPr lang="en-US" sz="1800" b="1" u="none" spc="-34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FB913B"/>
                </a:solidFill>
                <a:effectLst/>
                <a:uFillTx/>
                <a:latin typeface="Calibri"/>
              </a:rPr>
              <a:t>—</a:t>
            </a:r>
            <a:r>
              <a:rPr lang="en-US" sz="1800" b="1" u="none" spc="-31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FB913B"/>
                </a:solidFill>
                <a:effectLst/>
                <a:uFillTx/>
                <a:latin typeface="Calibri"/>
              </a:rPr>
              <a:t>terraform</a:t>
            </a:r>
            <a:r>
              <a:rPr lang="en-US" sz="1800" b="1" u="none" spc="-34" strike="noStrike">
                <a:solidFill>
                  <a:srgbClr val="FB913B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FB913B"/>
                </a:solidFill>
                <a:effectLst/>
                <a:uFillTx/>
                <a:latin typeface="Calibri"/>
              </a:rPr>
              <a:t>destroy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object 12" descr="destroy.png"/>
          <p:cNvPicPr/>
          <p:nvPr/>
        </p:nvPicPr>
        <p:blipFill>
          <a:blip r:embed="rId4"/>
          <a:stretch/>
        </p:blipFill>
        <p:spPr>
          <a:xfrm>
            <a:off x="731520" y="4663080"/>
            <a:ext cx="10514880" cy="191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37BD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7" name="object 3"/>
          <p:cNvGrpSpPr/>
          <p:nvPr/>
        </p:nvGrpSpPr>
        <p:grpSpPr>
          <a:xfrm>
            <a:off x="600120" y="403200"/>
            <a:ext cx="1725480" cy="444960"/>
            <a:chOff x="600120" y="403200"/>
            <a:chExt cx="1725480" cy="444960"/>
          </a:xfrm>
        </p:grpSpPr>
        <p:pic>
          <p:nvPicPr>
            <p:cNvPr id="298" name="object 4"/>
            <p:cNvPicPr/>
            <p:nvPr/>
          </p:nvPicPr>
          <p:blipFill>
            <a:blip r:embed="rId1"/>
            <a:stretch/>
          </p:blipFill>
          <p:spPr>
            <a:xfrm>
              <a:off x="600120" y="40320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9" name="object 5"/>
            <p:cNvSpPr/>
            <p:nvPr/>
          </p:nvSpPr>
          <p:spPr>
            <a:xfrm>
              <a:off x="640080" y="42012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45" y="0"/>
                  </a:lnTo>
                  <a:lnTo>
                    <a:pt x="52069" y="534"/>
                  </a:lnTo>
                  <a:lnTo>
                    <a:pt x="52684" y="534"/>
                  </a:lnTo>
                  <a:lnTo>
                    <a:pt x="45181" y="1938"/>
                  </a:lnTo>
                  <a:lnTo>
                    <a:pt x="12727" y="23717"/>
                  </a:lnTo>
                  <a:lnTo>
                    <a:pt x="0" y="60845"/>
                  </a:lnTo>
                  <a:lnTo>
                    <a:pt x="0" y="304926"/>
                  </a:lnTo>
                  <a:lnTo>
                    <a:pt x="464" y="312584"/>
                  </a:lnTo>
                  <a:lnTo>
                    <a:pt x="477" y="312789"/>
                  </a:lnTo>
                  <a:lnTo>
                    <a:pt x="1900" y="320405"/>
                  </a:lnTo>
                  <a:lnTo>
                    <a:pt x="1933" y="320584"/>
                  </a:lnTo>
                  <a:lnTo>
                    <a:pt x="4352" y="327954"/>
                  </a:lnTo>
                  <a:lnTo>
                    <a:pt x="4404" y="328110"/>
                  </a:lnTo>
                  <a:lnTo>
                    <a:pt x="7924" y="335165"/>
                  </a:lnTo>
                  <a:lnTo>
                    <a:pt x="12321" y="341691"/>
                  </a:lnTo>
                  <a:lnTo>
                    <a:pt x="12422" y="341841"/>
                  </a:lnTo>
                  <a:lnTo>
                    <a:pt x="44999" y="363648"/>
                  </a:lnTo>
                  <a:lnTo>
                    <a:pt x="60845" y="365760"/>
                  </a:lnTo>
                  <a:lnTo>
                    <a:pt x="1585074" y="365404"/>
                  </a:lnTo>
                  <a:lnTo>
                    <a:pt x="1621927" y="353032"/>
                  </a:lnTo>
                  <a:lnTo>
                    <a:pt x="1641133" y="328110"/>
                  </a:lnTo>
                  <a:lnTo>
                    <a:pt x="1641210" y="327954"/>
                  </a:lnTo>
                  <a:lnTo>
                    <a:pt x="1643742" y="320584"/>
                  </a:lnTo>
                  <a:lnTo>
                    <a:pt x="1643803" y="320405"/>
                  </a:lnTo>
                  <a:lnTo>
                    <a:pt x="1645343" y="312789"/>
                  </a:lnTo>
                  <a:lnTo>
                    <a:pt x="1645385" y="312584"/>
                  </a:lnTo>
                  <a:lnTo>
                    <a:pt x="1645895" y="304926"/>
                  </a:lnTo>
                  <a:lnTo>
                    <a:pt x="1645920" y="304558"/>
                  </a:lnTo>
                  <a:lnTo>
                    <a:pt x="1645564" y="60845"/>
                  </a:lnTo>
                  <a:lnTo>
                    <a:pt x="1633140" y="23928"/>
                  </a:lnTo>
                  <a:lnTo>
                    <a:pt x="1600560" y="2116"/>
                  </a:lnTo>
                  <a:lnTo>
                    <a:pt x="1592738" y="534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0" name="object 6"/>
          <p:cNvSpPr/>
          <p:nvPr/>
        </p:nvSpPr>
        <p:spPr>
          <a:xfrm>
            <a:off x="1353600" y="50652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Kubernetes</a:t>
            </a:r>
            <a:r>
              <a:rPr lang="en-US" sz="3200" b="1" u="none" spc="-60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&amp;</a:t>
            </a:r>
            <a:r>
              <a:rPr lang="en-US" sz="3200" b="1" u="none" spc="-60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Helm</a:t>
            </a:r>
            <a:r>
              <a:rPr lang="en-US" sz="3200" b="1" u="none" spc="-60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Orchestration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02" name="object 8"/>
          <p:cNvGrpSpPr/>
          <p:nvPr/>
        </p:nvGrpSpPr>
        <p:grpSpPr>
          <a:xfrm>
            <a:off x="2557080" y="897120"/>
            <a:ext cx="5840280" cy="117000"/>
            <a:chOff x="2557080" y="897120"/>
            <a:chExt cx="5840280" cy="117000"/>
          </a:xfrm>
        </p:grpSpPr>
        <p:pic>
          <p:nvPicPr>
            <p:cNvPr id="303" name="object 9"/>
            <p:cNvPicPr/>
            <p:nvPr/>
          </p:nvPicPr>
          <p:blipFill>
            <a:blip r:embed="rId2"/>
            <a:stretch/>
          </p:blipFill>
          <p:spPr>
            <a:xfrm>
              <a:off x="2557080" y="897120"/>
              <a:ext cx="584028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4" name="object 10"/>
            <p:cNvSpPr/>
            <p:nvPr/>
          </p:nvSpPr>
          <p:spPr>
            <a:xfrm>
              <a:off x="2597040" y="914040"/>
              <a:ext cx="5760360" cy="37800"/>
            </a:xfrm>
            <a:custGeom>
              <a:avLst/>
              <a:gdLst>
                <a:gd name="textAreaLeft" fmla="*/ 0 w 5760360"/>
                <a:gd name="textAreaRight" fmla="*/ 5760720 w 57603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5760720" h="38100">
                  <a:moveTo>
                    <a:pt x="5760720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2880360" y="37795"/>
                  </a:lnTo>
                  <a:lnTo>
                    <a:pt x="5760720" y="37795"/>
                  </a:lnTo>
                  <a:lnTo>
                    <a:pt x="5760720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5" name="object 11"/>
          <p:cNvSpPr/>
          <p:nvPr/>
        </p:nvSpPr>
        <p:spPr>
          <a:xfrm>
            <a:off x="808560" y="1220760"/>
            <a:ext cx="4147920" cy="24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36440">
              <a:lnSpc>
                <a:spcPct val="100000"/>
              </a:lnSpc>
              <a:spcBef>
                <a:spcPts val="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Helm</a:t>
            </a: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v3</a:t>
            </a: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chart</a:t>
            </a: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in</a:t>
            </a: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helm/taskboard</a:t>
            </a: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5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lint</a:t>
            </a: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&amp;</a:t>
            </a: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template validated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4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Namespace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isolation</a:t>
            </a:r>
            <a:r>
              <a:rPr lang="en-US" sz="15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(taskboard</a:t>
            </a:r>
            <a:r>
              <a:rPr lang="en-US" sz="15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namespace)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Ingress</a:t>
            </a:r>
            <a:r>
              <a:rPr lang="en-US" sz="15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routing:</a:t>
            </a:r>
            <a:r>
              <a:rPr lang="en-US" sz="15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/</a:t>
            </a:r>
            <a:r>
              <a:rPr lang="en-US" sz="15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→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Frontend,</a:t>
            </a:r>
            <a:r>
              <a:rPr lang="en-US" sz="15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/api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→</a:t>
            </a:r>
            <a:r>
              <a:rPr lang="en-US" sz="15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Backend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Horizontal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Pod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Autoscaler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(CPU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&gt;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75%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threshold)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PostgreSQL</a:t>
            </a:r>
            <a:r>
              <a:rPr lang="en-US" sz="15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16</a:t>
            </a:r>
            <a:r>
              <a:rPr lang="en-US" sz="15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with</a:t>
            </a:r>
            <a:r>
              <a:rPr lang="en-US" sz="15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PersistentVolumeClaim</a:t>
            </a:r>
            <a:r>
              <a:rPr lang="en-US" sz="15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(Bound)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/health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liveness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&amp;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/ready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readiness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probes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Zero-Trust</a:t>
            </a:r>
            <a:r>
              <a:rPr lang="en-US" sz="15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Network</a:t>
            </a:r>
            <a:r>
              <a:rPr lang="en-US" sz="15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Policies</a:t>
            </a:r>
            <a:r>
              <a:rPr lang="en-US" sz="15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enforced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object 12" descr="image.png"/>
          <p:cNvPicPr/>
          <p:nvPr/>
        </p:nvPicPr>
        <p:blipFill>
          <a:blip r:embed="rId3"/>
          <a:stretch/>
        </p:blipFill>
        <p:spPr>
          <a:xfrm>
            <a:off x="6217920" y="1096920"/>
            <a:ext cx="5485680" cy="25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object 13" descr="image2.png"/>
          <p:cNvPicPr/>
          <p:nvPr/>
        </p:nvPicPr>
        <p:blipFill>
          <a:blip r:embed="rId4"/>
          <a:stretch/>
        </p:blipFill>
        <p:spPr>
          <a:xfrm>
            <a:off x="6217920" y="3840120"/>
            <a:ext cx="5485680" cy="25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49DE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9" name="object 3"/>
          <p:cNvGrpSpPr/>
          <p:nvPr/>
        </p:nvGrpSpPr>
        <p:grpSpPr>
          <a:xfrm>
            <a:off x="600120" y="366840"/>
            <a:ext cx="1725480" cy="444960"/>
            <a:chOff x="600120" y="366840"/>
            <a:chExt cx="1725480" cy="444960"/>
          </a:xfrm>
        </p:grpSpPr>
        <p:pic>
          <p:nvPicPr>
            <p:cNvPr id="310" name="object 4"/>
            <p:cNvPicPr/>
            <p:nvPr/>
          </p:nvPicPr>
          <p:blipFill>
            <a:blip r:embed="rId1"/>
            <a:stretch/>
          </p:blipFill>
          <p:spPr>
            <a:xfrm>
              <a:off x="600120" y="36684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1" name="object 5"/>
            <p:cNvSpPr/>
            <p:nvPr/>
          </p:nvSpPr>
          <p:spPr>
            <a:xfrm>
              <a:off x="640080" y="38376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45" y="0"/>
                  </a:lnTo>
                  <a:lnTo>
                    <a:pt x="52069" y="534"/>
                  </a:lnTo>
                  <a:lnTo>
                    <a:pt x="52684" y="534"/>
                  </a:lnTo>
                  <a:lnTo>
                    <a:pt x="45181" y="1938"/>
                  </a:lnTo>
                  <a:lnTo>
                    <a:pt x="12727" y="23717"/>
                  </a:lnTo>
                  <a:lnTo>
                    <a:pt x="0" y="60845"/>
                  </a:lnTo>
                  <a:lnTo>
                    <a:pt x="0" y="304926"/>
                  </a:lnTo>
                  <a:lnTo>
                    <a:pt x="464" y="312584"/>
                  </a:lnTo>
                  <a:lnTo>
                    <a:pt x="477" y="312789"/>
                  </a:lnTo>
                  <a:lnTo>
                    <a:pt x="1900" y="320405"/>
                  </a:lnTo>
                  <a:lnTo>
                    <a:pt x="1933" y="320584"/>
                  </a:lnTo>
                  <a:lnTo>
                    <a:pt x="4352" y="327954"/>
                  </a:lnTo>
                  <a:lnTo>
                    <a:pt x="4404" y="328110"/>
                  </a:lnTo>
                  <a:lnTo>
                    <a:pt x="7924" y="335165"/>
                  </a:lnTo>
                  <a:lnTo>
                    <a:pt x="12321" y="341691"/>
                  </a:lnTo>
                  <a:lnTo>
                    <a:pt x="12422" y="341841"/>
                  </a:lnTo>
                  <a:lnTo>
                    <a:pt x="44999" y="363648"/>
                  </a:lnTo>
                  <a:lnTo>
                    <a:pt x="60845" y="365760"/>
                  </a:lnTo>
                  <a:lnTo>
                    <a:pt x="1585074" y="365404"/>
                  </a:lnTo>
                  <a:lnTo>
                    <a:pt x="1621927" y="353032"/>
                  </a:lnTo>
                  <a:lnTo>
                    <a:pt x="1641133" y="328110"/>
                  </a:lnTo>
                  <a:lnTo>
                    <a:pt x="1641210" y="327954"/>
                  </a:lnTo>
                  <a:lnTo>
                    <a:pt x="1643742" y="320584"/>
                  </a:lnTo>
                  <a:lnTo>
                    <a:pt x="1643803" y="320405"/>
                  </a:lnTo>
                  <a:lnTo>
                    <a:pt x="1645343" y="312789"/>
                  </a:lnTo>
                  <a:lnTo>
                    <a:pt x="1645385" y="312584"/>
                  </a:lnTo>
                  <a:lnTo>
                    <a:pt x="1645895" y="304926"/>
                  </a:lnTo>
                  <a:lnTo>
                    <a:pt x="1645920" y="304558"/>
                  </a:lnTo>
                  <a:lnTo>
                    <a:pt x="1645564" y="60845"/>
                  </a:lnTo>
                  <a:lnTo>
                    <a:pt x="1633140" y="23928"/>
                  </a:lnTo>
                  <a:lnTo>
                    <a:pt x="1600560" y="2116"/>
                  </a:lnTo>
                  <a:lnTo>
                    <a:pt x="1592738" y="534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49DE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2" name="object 6"/>
          <p:cNvSpPr/>
          <p:nvPr/>
        </p:nvSpPr>
        <p:spPr>
          <a:xfrm>
            <a:off x="1353600" y="47016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Observability</a:t>
            </a:r>
            <a:r>
              <a:rPr lang="en-US" sz="3200" b="1" u="none" spc="-8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</a:t>
            </a:r>
            <a:r>
              <a:rPr lang="en-US" sz="3200" b="1" u="none" spc="-8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Prometheus</a:t>
            </a:r>
            <a:r>
              <a:rPr lang="en-US" sz="3200" b="1" u="none" spc="-79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Metrics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14" name="object 8"/>
          <p:cNvGrpSpPr/>
          <p:nvPr/>
        </p:nvGrpSpPr>
        <p:grpSpPr>
          <a:xfrm>
            <a:off x="2520360" y="897120"/>
            <a:ext cx="2484360" cy="117000"/>
            <a:chOff x="2520360" y="897120"/>
            <a:chExt cx="2484360" cy="117000"/>
          </a:xfrm>
        </p:grpSpPr>
        <p:pic>
          <p:nvPicPr>
            <p:cNvPr id="315" name="object 9"/>
            <p:cNvPicPr/>
            <p:nvPr/>
          </p:nvPicPr>
          <p:blipFill>
            <a:blip r:embed="rId2"/>
            <a:stretch/>
          </p:blipFill>
          <p:spPr>
            <a:xfrm>
              <a:off x="2520360" y="897120"/>
              <a:ext cx="248436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16" name="object 10"/>
            <p:cNvSpPr/>
            <p:nvPr/>
          </p:nvSpPr>
          <p:spPr>
            <a:xfrm>
              <a:off x="2560320" y="914040"/>
              <a:ext cx="2405160" cy="37800"/>
            </a:xfrm>
            <a:custGeom>
              <a:avLst/>
              <a:gdLst>
                <a:gd name="textAreaLeft" fmla="*/ 0 w 2405160"/>
                <a:gd name="textAreaRight" fmla="*/ 2405520 w 24051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2405379" h="38100">
                  <a:moveTo>
                    <a:pt x="2404795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1202397" y="37795"/>
                  </a:lnTo>
                  <a:lnTo>
                    <a:pt x="2404795" y="37795"/>
                  </a:lnTo>
                  <a:lnTo>
                    <a:pt x="2404795" y="0"/>
                  </a:lnTo>
                  <a:close/>
                </a:path>
              </a:pathLst>
            </a:custGeom>
            <a:solidFill>
              <a:srgbClr val="49DE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7" name="object 11"/>
          <p:cNvSpPr/>
          <p:nvPr/>
        </p:nvSpPr>
        <p:spPr>
          <a:xfrm>
            <a:off x="808560" y="1119240"/>
            <a:ext cx="4492440" cy="20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4480" rIns="0" bIns="0" anchor="t">
            <a:spAutoFit/>
          </a:bodyPr>
          <a:p>
            <a:pPr marL="149400" indent="-136440">
              <a:lnSpc>
                <a:spcPct val="100000"/>
              </a:lnSpc>
              <a:spcBef>
                <a:spcPts val="901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FastAPI</a:t>
            </a:r>
            <a:r>
              <a:rPr lang="en-US" sz="15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exposes</a:t>
            </a:r>
            <a:r>
              <a:rPr lang="en-US" sz="15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/metrics</a:t>
            </a:r>
            <a:r>
              <a:rPr lang="en-US" sz="15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endpoint</a:t>
            </a:r>
            <a:r>
              <a:rPr lang="en-US" sz="15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(Prometheus</a:t>
            </a:r>
            <a:r>
              <a:rPr lang="en-US" sz="15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format)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4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HTTP</a:t>
            </a:r>
            <a:r>
              <a:rPr lang="en-US" sz="15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request</a:t>
            </a:r>
            <a:r>
              <a:rPr lang="en-US" sz="15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counts,</a:t>
            </a:r>
            <a:r>
              <a:rPr lang="en-US" sz="15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response</a:t>
            </a:r>
            <a:r>
              <a:rPr lang="en-US" sz="15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latency</a:t>
            </a:r>
            <a:r>
              <a:rPr lang="en-US" sz="15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histograms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System</a:t>
            </a:r>
            <a:r>
              <a:rPr lang="en-US" sz="15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memory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&amp;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CPU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metrics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exported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Prometheus</a:t>
            </a:r>
            <a:r>
              <a:rPr lang="en-US" sz="15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scrapes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targets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every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5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seconds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All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scrape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targets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show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UP</a:t>
            </a:r>
            <a:r>
              <a:rPr lang="en-US" sz="15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(1/1)</a:t>
            </a:r>
            <a:r>
              <a:rPr lang="en-US" sz="15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status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9400" indent="-136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49400" algn="l"/>
              </a:tabLst>
            </a:pPr>
            <a:r>
              <a:rPr lang="en-US" sz="15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Real-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time</a:t>
            </a:r>
            <a:r>
              <a:rPr lang="en-US" sz="15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PromQL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queries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for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live</a:t>
            </a:r>
            <a:r>
              <a:rPr lang="en-US" sz="15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monitoring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object 12" descr="prometheus2.png"/>
          <p:cNvPicPr/>
          <p:nvPr/>
        </p:nvPicPr>
        <p:blipFill>
          <a:blip r:embed="rId3"/>
          <a:stretch/>
        </p:blipFill>
        <p:spPr>
          <a:xfrm>
            <a:off x="6217920" y="1096920"/>
            <a:ext cx="5485680" cy="95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object 13" descr="prometheus3.png"/>
          <p:cNvPicPr/>
          <p:nvPr/>
        </p:nvPicPr>
        <p:blipFill>
          <a:blip r:embed="rId4"/>
          <a:stretch/>
        </p:blipFill>
        <p:spPr>
          <a:xfrm>
            <a:off x="6172560" y="2285640"/>
            <a:ext cx="5485680" cy="25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49DE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1" name="object 3"/>
          <p:cNvGrpSpPr/>
          <p:nvPr/>
        </p:nvGrpSpPr>
        <p:grpSpPr>
          <a:xfrm>
            <a:off x="636480" y="394200"/>
            <a:ext cx="1725480" cy="444960"/>
            <a:chOff x="636480" y="394200"/>
            <a:chExt cx="1725480" cy="444960"/>
          </a:xfrm>
        </p:grpSpPr>
        <p:pic>
          <p:nvPicPr>
            <p:cNvPr id="322" name="object 4"/>
            <p:cNvPicPr/>
            <p:nvPr/>
          </p:nvPicPr>
          <p:blipFill>
            <a:blip r:embed="rId1"/>
            <a:stretch/>
          </p:blipFill>
          <p:spPr>
            <a:xfrm>
              <a:off x="636480" y="39420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3" name="object 5"/>
            <p:cNvSpPr/>
            <p:nvPr/>
          </p:nvSpPr>
          <p:spPr>
            <a:xfrm>
              <a:off x="676440" y="41112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45" y="0"/>
                  </a:lnTo>
                  <a:lnTo>
                    <a:pt x="52056" y="533"/>
                  </a:lnTo>
                  <a:lnTo>
                    <a:pt x="52676" y="533"/>
                  </a:lnTo>
                  <a:lnTo>
                    <a:pt x="45177" y="1931"/>
                  </a:lnTo>
                  <a:lnTo>
                    <a:pt x="12727" y="23710"/>
                  </a:lnTo>
                  <a:lnTo>
                    <a:pt x="0" y="60832"/>
                  </a:lnTo>
                  <a:lnTo>
                    <a:pt x="0" y="304914"/>
                  </a:lnTo>
                  <a:lnTo>
                    <a:pt x="465" y="312576"/>
                  </a:lnTo>
                  <a:lnTo>
                    <a:pt x="477" y="312778"/>
                  </a:lnTo>
                  <a:lnTo>
                    <a:pt x="1899" y="320394"/>
                  </a:lnTo>
                  <a:lnTo>
                    <a:pt x="1933" y="320576"/>
                  </a:lnTo>
                  <a:lnTo>
                    <a:pt x="4351" y="327941"/>
                  </a:lnTo>
                  <a:lnTo>
                    <a:pt x="4404" y="328102"/>
                  </a:lnTo>
                  <a:lnTo>
                    <a:pt x="7924" y="335152"/>
                  </a:lnTo>
                  <a:lnTo>
                    <a:pt x="12321" y="341679"/>
                  </a:lnTo>
                  <a:lnTo>
                    <a:pt x="12422" y="341829"/>
                  </a:lnTo>
                  <a:lnTo>
                    <a:pt x="17610" y="347664"/>
                  </a:lnTo>
                  <a:lnTo>
                    <a:pt x="17729" y="347797"/>
                  </a:lnTo>
                  <a:lnTo>
                    <a:pt x="23712" y="353024"/>
                  </a:lnTo>
                  <a:lnTo>
                    <a:pt x="60845" y="365760"/>
                  </a:lnTo>
                  <a:lnTo>
                    <a:pt x="1585074" y="365391"/>
                  </a:lnTo>
                  <a:lnTo>
                    <a:pt x="1621927" y="353024"/>
                  </a:lnTo>
                  <a:lnTo>
                    <a:pt x="1641130" y="328102"/>
                  </a:lnTo>
                  <a:lnTo>
                    <a:pt x="1641210" y="327941"/>
                  </a:lnTo>
                  <a:lnTo>
                    <a:pt x="1643741" y="320576"/>
                  </a:lnTo>
                  <a:lnTo>
                    <a:pt x="1643803" y="320394"/>
                  </a:lnTo>
                  <a:lnTo>
                    <a:pt x="1645344" y="312778"/>
                  </a:lnTo>
                  <a:lnTo>
                    <a:pt x="1645385" y="312576"/>
                  </a:lnTo>
                  <a:lnTo>
                    <a:pt x="1645896" y="304914"/>
                  </a:lnTo>
                  <a:lnTo>
                    <a:pt x="1645920" y="304558"/>
                  </a:lnTo>
                  <a:lnTo>
                    <a:pt x="1645564" y="60832"/>
                  </a:lnTo>
                  <a:lnTo>
                    <a:pt x="1633140" y="23918"/>
                  </a:lnTo>
                  <a:lnTo>
                    <a:pt x="1600560" y="2111"/>
                  </a:lnTo>
                  <a:lnTo>
                    <a:pt x="1592738" y="533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49DE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4" name="object 6"/>
          <p:cNvSpPr/>
          <p:nvPr/>
        </p:nvSpPr>
        <p:spPr>
          <a:xfrm>
            <a:off x="1389960" y="497520"/>
            <a:ext cx="21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Grafana</a:t>
            </a:r>
            <a:r>
              <a:rPr lang="en-US" sz="3200" b="1" u="none" spc="-14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Production</a:t>
            </a:r>
            <a:r>
              <a:rPr lang="en-US" sz="3200" b="1" u="none" spc="-145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Dashboard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26" name="object 8"/>
          <p:cNvGrpSpPr/>
          <p:nvPr/>
        </p:nvGrpSpPr>
        <p:grpSpPr>
          <a:xfrm>
            <a:off x="2520360" y="859320"/>
            <a:ext cx="5410440" cy="117000"/>
            <a:chOff x="2520360" y="859320"/>
            <a:chExt cx="5410440" cy="117000"/>
          </a:xfrm>
        </p:grpSpPr>
        <p:pic>
          <p:nvPicPr>
            <p:cNvPr id="327" name="object 9"/>
            <p:cNvPicPr/>
            <p:nvPr/>
          </p:nvPicPr>
          <p:blipFill>
            <a:blip r:embed="rId2"/>
            <a:stretch/>
          </p:blipFill>
          <p:spPr>
            <a:xfrm>
              <a:off x="2520360" y="859320"/>
              <a:ext cx="541044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8" name="object 10"/>
            <p:cNvSpPr/>
            <p:nvPr/>
          </p:nvSpPr>
          <p:spPr>
            <a:xfrm>
              <a:off x="2560320" y="876240"/>
              <a:ext cx="5331240" cy="37800"/>
            </a:xfrm>
            <a:custGeom>
              <a:avLst/>
              <a:gdLst>
                <a:gd name="textAreaLeft" fmla="*/ 0 w 5331240"/>
                <a:gd name="textAreaRight" fmla="*/ 5331600 w 53312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5331459" h="38100">
                  <a:moveTo>
                    <a:pt x="5330875" y="0"/>
                  </a:moveTo>
                  <a:lnTo>
                    <a:pt x="0" y="0"/>
                  </a:lnTo>
                  <a:lnTo>
                    <a:pt x="0" y="37807"/>
                  </a:lnTo>
                  <a:lnTo>
                    <a:pt x="2665437" y="37807"/>
                  </a:lnTo>
                  <a:lnTo>
                    <a:pt x="5330875" y="37807"/>
                  </a:lnTo>
                  <a:lnTo>
                    <a:pt x="5330875" y="0"/>
                  </a:lnTo>
                  <a:close/>
                </a:path>
              </a:pathLst>
            </a:custGeom>
            <a:solidFill>
              <a:srgbClr val="49DE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9" name="object 11"/>
          <p:cNvGrpSpPr/>
          <p:nvPr/>
        </p:nvGrpSpPr>
        <p:grpSpPr>
          <a:xfrm>
            <a:off x="681480" y="1162080"/>
            <a:ext cx="5127840" cy="3088800"/>
            <a:chOff x="681480" y="1162080"/>
            <a:chExt cx="5127840" cy="3088800"/>
          </a:xfrm>
        </p:grpSpPr>
        <p:pic>
          <p:nvPicPr>
            <p:cNvPr id="330" name="object 12"/>
            <p:cNvPicPr/>
            <p:nvPr/>
          </p:nvPicPr>
          <p:blipFill>
            <a:blip r:embed="rId3"/>
            <a:stretch/>
          </p:blipFill>
          <p:spPr>
            <a:xfrm>
              <a:off x="681480" y="116208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1" name="object 13"/>
            <p:cNvSpPr/>
            <p:nvPr/>
          </p:nvSpPr>
          <p:spPr>
            <a:xfrm>
              <a:off x="730800" y="118836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19"/>
                  </a:lnTo>
                  <a:lnTo>
                    <a:pt x="67882" y="650441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object 14"/>
            <p:cNvSpPr/>
            <p:nvPr/>
          </p:nvSpPr>
          <p:spPr>
            <a:xfrm>
              <a:off x="730800" y="118836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33" name="object 15"/>
            <p:cNvPicPr/>
            <p:nvPr/>
          </p:nvPicPr>
          <p:blipFill>
            <a:blip r:embed="rId4"/>
            <a:stretch/>
          </p:blipFill>
          <p:spPr>
            <a:xfrm>
              <a:off x="681480" y="1939320"/>
              <a:ext cx="5127840" cy="756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4" name="object 16"/>
            <p:cNvSpPr/>
            <p:nvPr/>
          </p:nvSpPr>
          <p:spPr>
            <a:xfrm>
              <a:off x="730800" y="196560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object 17"/>
            <p:cNvSpPr/>
            <p:nvPr/>
          </p:nvSpPr>
          <p:spPr>
            <a:xfrm>
              <a:off x="730800" y="196560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30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36" name="object 18"/>
            <p:cNvPicPr/>
            <p:nvPr/>
          </p:nvPicPr>
          <p:blipFill>
            <a:blip r:embed="rId5"/>
            <a:stretch/>
          </p:blipFill>
          <p:spPr>
            <a:xfrm>
              <a:off x="681480" y="271656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7" name="object 19"/>
            <p:cNvSpPr/>
            <p:nvPr/>
          </p:nvSpPr>
          <p:spPr>
            <a:xfrm>
              <a:off x="730800" y="274284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object 20"/>
            <p:cNvSpPr/>
            <p:nvPr/>
          </p:nvSpPr>
          <p:spPr>
            <a:xfrm>
              <a:off x="730800" y="274284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60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39" name="object 21"/>
            <p:cNvPicPr/>
            <p:nvPr/>
          </p:nvPicPr>
          <p:blipFill>
            <a:blip r:embed="rId6"/>
            <a:stretch/>
          </p:blipFill>
          <p:spPr>
            <a:xfrm>
              <a:off x="681480" y="3493800"/>
              <a:ext cx="5127840" cy="7570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0" name="object 22"/>
            <p:cNvSpPr/>
            <p:nvPr/>
          </p:nvSpPr>
          <p:spPr>
            <a:xfrm>
              <a:off x="730800" y="352008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13"/>
                  </a:lnTo>
                  <a:lnTo>
                    <a:pt x="8721" y="67882"/>
                  </a:lnTo>
                  <a:lnTo>
                    <a:pt x="368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29"/>
                  </a:lnTo>
                  <a:lnTo>
                    <a:pt x="95379" y="657859"/>
                  </a:lnTo>
                  <a:lnTo>
                    <a:pt x="109804" y="658799"/>
                  </a:lnTo>
                  <a:lnTo>
                    <a:pt x="4919764" y="658799"/>
                  </a:lnTo>
                  <a:lnTo>
                    <a:pt x="4961835" y="650441"/>
                  </a:lnTo>
                  <a:lnTo>
                    <a:pt x="4997337" y="626619"/>
                  </a:lnTo>
                  <a:lnTo>
                    <a:pt x="5021134" y="591066"/>
                  </a:lnTo>
                  <a:lnTo>
                    <a:pt x="5021210" y="590916"/>
                  </a:lnTo>
                  <a:lnTo>
                    <a:pt x="5025816" y="577483"/>
                  </a:lnTo>
                  <a:lnTo>
                    <a:pt x="5028627" y="563425"/>
                  </a:lnTo>
                  <a:lnTo>
                    <a:pt x="5029568" y="548995"/>
                  </a:lnTo>
                  <a:lnTo>
                    <a:pt x="5029544" y="109791"/>
                  </a:lnTo>
                  <a:lnTo>
                    <a:pt x="5021210" y="68088"/>
                  </a:lnTo>
                  <a:lnTo>
                    <a:pt x="4997343" y="32534"/>
                  </a:lnTo>
                  <a:lnTo>
                    <a:pt x="4961685" y="8708"/>
                  </a:lnTo>
                  <a:lnTo>
                    <a:pt x="491976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924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object 23"/>
            <p:cNvSpPr/>
            <p:nvPr/>
          </p:nvSpPr>
          <p:spPr>
            <a:xfrm>
              <a:off x="730800" y="3520080"/>
              <a:ext cx="5029560" cy="658800"/>
            </a:xfrm>
            <a:custGeom>
              <a:avLst/>
              <a:gdLst>
                <a:gd name="textAreaLeft" fmla="*/ 0 w 5029560"/>
                <a:gd name="textAreaRight" fmla="*/ 5029920 w 5029560"/>
                <a:gd name="textAreaTop" fmla="*/ 0 h 658800"/>
                <a:gd name="textAreaBottom" fmla="*/ 659160 h 658800"/>
              </a:gdLst>
              <a:ahLst/>
              <a:cxnLst/>
              <a:rect l="textAreaLeft" t="textAreaTop" r="textAreaRight" b="textAreaBottom"/>
              <a:pathLst>
                <a:path w="5029835" h="659129">
                  <a:moveTo>
                    <a:pt x="368" y="109791"/>
                  </a:moveTo>
                  <a:lnTo>
                    <a:pt x="1307" y="95374"/>
                  </a:lnTo>
                  <a:lnTo>
                    <a:pt x="4103" y="81359"/>
                  </a:lnTo>
                  <a:lnTo>
                    <a:pt x="23138" y="43003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4919764" y="355"/>
                  </a:lnTo>
                  <a:lnTo>
                    <a:pt x="4961685" y="8708"/>
                  </a:lnTo>
                  <a:lnTo>
                    <a:pt x="4997343" y="32534"/>
                  </a:lnTo>
                  <a:lnTo>
                    <a:pt x="5021210" y="68088"/>
                  </a:lnTo>
                  <a:lnTo>
                    <a:pt x="5029568" y="110159"/>
                  </a:lnTo>
                  <a:lnTo>
                    <a:pt x="5029568" y="548995"/>
                  </a:lnTo>
                  <a:lnTo>
                    <a:pt x="5028628" y="563420"/>
                  </a:lnTo>
                  <a:lnTo>
                    <a:pt x="5025831" y="577438"/>
                  </a:lnTo>
                  <a:lnTo>
                    <a:pt x="5006785" y="615788"/>
                  </a:lnTo>
                  <a:lnTo>
                    <a:pt x="4974844" y="644029"/>
                  </a:lnTo>
                  <a:lnTo>
                    <a:pt x="4934194" y="657859"/>
                  </a:lnTo>
                  <a:lnTo>
                    <a:pt x="4919764" y="658799"/>
                  </a:lnTo>
                  <a:lnTo>
                    <a:pt x="109804" y="658799"/>
                  </a:lnTo>
                  <a:lnTo>
                    <a:pt x="67882" y="650441"/>
                  </a:lnTo>
                  <a:lnTo>
                    <a:pt x="32224" y="626619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791"/>
                  </a:lnTo>
                  <a:close/>
                </a:path>
              </a:pathLst>
            </a:custGeom>
            <a:noFill/>
            <a:ln w="19079">
              <a:solidFill>
                <a:srgbClr val="49DE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2" name="object 24"/>
          <p:cNvSpPr/>
          <p:nvPr/>
        </p:nvSpPr>
        <p:spPr>
          <a:xfrm>
            <a:off x="1082880" y="1159920"/>
            <a:ext cx="2405160" cy="29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7120" rIns="0" bIns="0" anchor="t">
            <a:spAutoFit/>
          </a:bodyPr>
          <a:p>
            <a:pPr marL="12600">
              <a:lnSpc>
                <a:spcPct val="100000"/>
              </a:lnSpc>
              <a:spcBef>
                <a:spcPts val="686"/>
              </a:spcBef>
            </a:pPr>
            <a:r>
              <a:rPr lang="en-US" sz="1650" b="0" u="none" spc="261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📊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Total</a:t>
            </a:r>
            <a:r>
              <a:rPr lang="en-US" sz="1400" b="1" u="none" spc="-4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Requests</a:t>
            </a:r>
            <a:r>
              <a:rPr lang="en-US" sz="14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by</a:t>
            </a:r>
            <a:r>
              <a:rPr lang="en-US" sz="1400" b="1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Handler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31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Live</a:t>
            </a:r>
            <a:r>
              <a:rPr lang="en-US" sz="12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req/s</a:t>
            </a:r>
            <a:r>
              <a:rPr lang="en-US" sz="12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rate</a:t>
            </a:r>
            <a:r>
              <a:rPr lang="en-US" sz="1200" b="0" u="none" spc="-5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visualization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650" b="0" u="none" spc="-694" strike="noStrike">
                <a:solidFill>
                  <a:srgbClr val="FFFFFF"/>
                </a:solidFill>
                <a:effectLst/>
                <a:uFillTx/>
                <a:latin typeface="Gill Sans MT"/>
              </a:rPr>
              <a:t>⏱️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P95</a:t>
            </a:r>
            <a:r>
              <a:rPr lang="en-US" sz="1400" b="1" u="none" spc="-4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Request</a:t>
            </a:r>
            <a:r>
              <a:rPr lang="en-US" sz="1400" b="1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Latency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25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95th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percentile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response</a:t>
            </a:r>
            <a:r>
              <a:rPr lang="en-US" sz="12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time</a:t>
            </a:r>
            <a:r>
              <a:rPr lang="en-US" sz="12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tracking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650" b="0" u="none" spc="261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🚨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5xx</a:t>
            </a:r>
            <a:r>
              <a:rPr lang="en-US" sz="14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Server</a:t>
            </a:r>
            <a:r>
              <a:rPr lang="en-US" sz="14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Errors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25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Zero</a:t>
            </a:r>
            <a:r>
              <a:rPr lang="en-US" sz="1200" b="0" u="none" spc="-5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errors</a:t>
            </a:r>
            <a:r>
              <a:rPr lang="en-US" sz="12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—</a:t>
            </a:r>
            <a:r>
              <a:rPr lang="en-US" sz="12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clean</a:t>
            </a:r>
            <a:r>
              <a:rPr lang="en-US" sz="12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production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en-US" sz="1650" b="0" u="none" spc="261" strike="noStrike">
                <a:solidFill>
                  <a:srgbClr val="FFFFFF"/>
                </a:solidFill>
                <a:effectLst/>
                <a:uFillTx/>
                <a:latin typeface="Gill Sans MT"/>
              </a:rPr>
              <a:t>📈</a:t>
            </a:r>
            <a:r>
              <a:rPr lang="en-US" sz="1650" b="0" u="none" spc="-315" strike="noStrike">
                <a:solidFill>
                  <a:srgbClr val="FFFFFF"/>
                </a:solidFill>
                <a:effectLst/>
                <a:uFillTx/>
                <a:latin typeface="Gill Sans MT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HTTP</a:t>
            </a:r>
            <a:r>
              <a:rPr lang="en-US" sz="1400" b="1" u="none" spc="-4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Status</a:t>
            </a:r>
            <a:r>
              <a:rPr lang="en-US" sz="14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Breakdown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25"/>
              </a:spcBef>
            </a:pP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2xx</a:t>
            </a:r>
            <a:r>
              <a:rPr lang="en-US" sz="12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/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4xx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/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5xx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code</a:t>
            </a:r>
            <a:r>
              <a:rPr lang="en-US" sz="12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2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distribution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object 25" descr="image.png"/>
          <p:cNvPicPr/>
          <p:nvPr/>
        </p:nvPicPr>
        <p:blipFill>
          <a:blip r:embed="rId7"/>
          <a:stretch/>
        </p:blipFill>
        <p:spPr>
          <a:xfrm>
            <a:off x="6217920" y="1096920"/>
            <a:ext cx="5485680" cy="502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FB91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5" name="object 3"/>
          <p:cNvGrpSpPr/>
          <p:nvPr/>
        </p:nvGrpSpPr>
        <p:grpSpPr>
          <a:xfrm>
            <a:off x="636480" y="375840"/>
            <a:ext cx="1725480" cy="444960"/>
            <a:chOff x="636480" y="375840"/>
            <a:chExt cx="1725480" cy="444960"/>
          </a:xfrm>
        </p:grpSpPr>
        <p:pic>
          <p:nvPicPr>
            <p:cNvPr id="346" name="object 4"/>
            <p:cNvPicPr/>
            <p:nvPr/>
          </p:nvPicPr>
          <p:blipFill>
            <a:blip r:embed="rId1"/>
            <a:stretch/>
          </p:blipFill>
          <p:spPr>
            <a:xfrm>
              <a:off x="636480" y="37584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7" name="object 5"/>
            <p:cNvSpPr/>
            <p:nvPr/>
          </p:nvSpPr>
          <p:spPr>
            <a:xfrm>
              <a:off x="676440" y="39276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45" y="0"/>
                  </a:lnTo>
                  <a:lnTo>
                    <a:pt x="52030" y="534"/>
                  </a:lnTo>
                  <a:lnTo>
                    <a:pt x="52668" y="534"/>
                  </a:lnTo>
                  <a:lnTo>
                    <a:pt x="45177" y="1933"/>
                  </a:lnTo>
                  <a:lnTo>
                    <a:pt x="12727" y="23712"/>
                  </a:lnTo>
                  <a:lnTo>
                    <a:pt x="0" y="60845"/>
                  </a:lnTo>
                  <a:lnTo>
                    <a:pt x="0" y="304914"/>
                  </a:lnTo>
                  <a:lnTo>
                    <a:pt x="465" y="312578"/>
                  </a:lnTo>
                  <a:lnTo>
                    <a:pt x="477" y="312778"/>
                  </a:lnTo>
                  <a:lnTo>
                    <a:pt x="1900" y="320400"/>
                  </a:lnTo>
                  <a:lnTo>
                    <a:pt x="1933" y="320578"/>
                  </a:lnTo>
                  <a:lnTo>
                    <a:pt x="4353" y="327952"/>
                  </a:lnTo>
                  <a:lnTo>
                    <a:pt x="4404" y="328108"/>
                  </a:lnTo>
                  <a:lnTo>
                    <a:pt x="7924" y="335165"/>
                  </a:lnTo>
                  <a:lnTo>
                    <a:pt x="12317" y="341686"/>
                  </a:lnTo>
                  <a:lnTo>
                    <a:pt x="12422" y="341841"/>
                  </a:lnTo>
                  <a:lnTo>
                    <a:pt x="44999" y="363643"/>
                  </a:lnTo>
                  <a:lnTo>
                    <a:pt x="60845" y="365760"/>
                  </a:lnTo>
                  <a:lnTo>
                    <a:pt x="1585074" y="365404"/>
                  </a:lnTo>
                  <a:lnTo>
                    <a:pt x="1621925" y="353032"/>
                  </a:lnTo>
                  <a:lnTo>
                    <a:pt x="1643742" y="320578"/>
                  </a:lnTo>
                  <a:lnTo>
                    <a:pt x="1645920" y="304558"/>
                  </a:lnTo>
                  <a:lnTo>
                    <a:pt x="1645564" y="60845"/>
                  </a:lnTo>
                  <a:lnTo>
                    <a:pt x="1633140" y="23918"/>
                  </a:lnTo>
                  <a:lnTo>
                    <a:pt x="1600560" y="2116"/>
                  </a:lnTo>
                  <a:lnTo>
                    <a:pt x="1592738" y="534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FB91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8" name="object 6"/>
          <p:cNvSpPr/>
          <p:nvPr/>
        </p:nvSpPr>
        <p:spPr>
          <a:xfrm>
            <a:off x="1354320" y="479160"/>
            <a:ext cx="28908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pc="-20" strike="noStrike">
                <a:solidFill>
                  <a:schemeClr val="lt1"/>
                </a:solidFill>
                <a:effectLst/>
                <a:uFillTx/>
                <a:latin typeface="Calibri"/>
              </a:rPr>
              <a:t>Troubleshooting</a:t>
            </a:r>
            <a:r>
              <a:rPr lang="en-US" sz="3200" b="1" u="none" spc="-54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26" strike="noStrike">
                <a:solidFill>
                  <a:schemeClr val="lt1"/>
                </a:solidFill>
                <a:effectLst/>
                <a:uFillTx/>
                <a:latin typeface="Calibri"/>
              </a:rPr>
              <a:t>Lab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50" name="object 8"/>
          <p:cNvGrpSpPr/>
          <p:nvPr/>
        </p:nvGrpSpPr>
        <p:grpSpPr>
          <a:xfrm>
            <a:off x="2529360" y="896760"/>
            <a:ext cx="3609000" cy="117000"/>
            <a:chOff x="2529360" y="896760"/>
            <a:chExt cx="3609000" cy="117000"/>
          </a:xfrm>
        </p:grpSpPr>
        <p:pic>
          <p:nvPicPr>
            <p:cNvPr id="351" name="object 9"/>
            <p:cNvPicPr/>
            <p:nvPr/>
          </p:nvPicPr>
          <p:blipFill>
            <a:blip r:embed="rId2"/>
            <a:stretch/>
          </p:blipFill>
          <p:spPr>
            <a:xfrm>
              <a:off x="2529360" y="896760"/>
              <a:ext cx="360900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2" name="object 10"/>
            <p:cNvSpPr/>
            <p:nvPr/>
          </p:nvSpPr>
          <p:spPr>
            <a:xfrm>
              <a:off x="2569320" y="913680"/>
              <a:ext cx="3529440" cy="37800"/>
            </a:xfrm>
            <a:custGeom>
              <a:avLst/>
              <a:gdLst>
                <a:gd name="textAreaLeft" fmla="*/ 0 w 3529440"/>
                <a:gd name="textAreaRight" fmla="*/ 3529800 w 35294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529965" h="38100">
                  <a:moveTo>
                    <a:pt x="3529431" y="0"/>
                  </a:moveTo>
                  <a:lnTo>
                    <a:pt x="0" y="0"/>
                  </a:lnTo>
                  <a:lnTo>
                    <a:pt x="0" y="37807"/>
                  </a:lnTo>
                  <a:lnTo>
                    <a:pt x="1764715" y="37807"/>
                  </a:lnTo>
                  <a:lnTo>
                    <a:pt x="3529431" y="37807"/>
                  </a:lnTo>
                  <a:lnTo>
                    <a:pt x="3529431" y="0"/>
                  </a:lnTo>
                  <a:close/>
                </a:path>
              </a:pathLst>
            </a:custGeom>
            <a:solidFill>
              <a:srgbClr val="FB91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3" name="object 11"/>
          <p:cNvSpPr/>
          <p:nvPr/>
        </p:nvSpPr>
        <p:spPr>
          <a:xfrm>
            <a:off x="808560" y="1220760"/>
            <a:ext cx="4241520" cy="10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trike="noStrike">
                <a:solidFill>
                  <a:srgbClr val="F77070"/>
                </a:solidFill>
                <a:effectLst/>
                <a:uFillTx/>
                <a:latin typeface="Calibri"/>
              </a:rPr>
              <a:t>Exercise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F77070"/>
                </a:solidFill>
                <a:effectLst/>
                <a:uFillTx/>
                <a:latin typeface="Calibri"/>
              </a:rPr>
              <a:t>1: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F77070"/>
                </a:solidFill>
                <a:effectLst/>
                <a:uFillTx/>
                <a:latin typeface="Calibri"/>
              </a:rPr>
              <a:t>Broken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F77070"/>
                </a:solidFill>
                <a:effectLst/>
                <a:uFillTx/>
                <a:latin typeface="Calibri"/>
              </a:rPr>
              <a:t>Image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F77070"/>
                </a:solidFill>
                <a:effectLst/>
                <a:uFillTx/>
                <a:latin typeface="Calibri"/>
              </a:rPr>
              <a:t>(ImagePullBackOff)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-127080">
              <a:lnSpc>
                <a:spcPct val="100000"/>
              </a:lnSpc>
              <a:spcBef>
                <a:spcPts val="1440"/>
              </a:spcBef>
              <a:buClr>
                <a:srgbClr val="CBD4E1"/>
              </a:buClr>
              <a:buFont typeface="Symbol" charset="2"/>
              <a:buChar char=""/>
              <a:tabLst>
                <a:tab pos="139680" algn="l"/>
              </a:tabLst>
            </a:pP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Diagnosing</a:t>
            </a:r>
            <a:r>
              <a:rPr lang="en-US" sz="14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non-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existent</a:t>
            </a:r>
            <a:r>
              <a:rPr lang="en-US" sz="14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image</a:t>
            </a:r>
            <a:r>
              <a:rPr lang="en-US" sz="14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tags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-12708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39680" algn="l"/>
              </a:tabLst>
            </a:pP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Using</a:t>
            </a:r>
            <a:r>
              <a:rPr lang="en-US" sz="14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kubectl</a:t>
            </a:r>
            <a:r>
              <a:rPr lang="en-US" sz="14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describe</a:t>
            </a:r>
            <a:r>
              <a:rPr lang="en-US" sz="14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pod</a:t>
            </a:r>
            <a:r>
              <a:rPr lang="en-US" sz="14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+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cluster</a:t>
            </a:r>
            <a:r>
              <a:rPr lang="en-US" sz="14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events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object 13" descr="image.png"/>
          <p:cNvPicPr/>
          <p:nvPr/>
        </p:nvPicPr>
        <p:blipFill>
          <a:blip r:embed="rId3"/>
          <a:stretch/>
        </p:blipFill>
        <p:spPr>
          <a:xfrm>
            <a:off x="6217920" y="1599840"/>
            <a:ext cx="548568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object 12"/>
          <p:cNvSpPr/>
          <p:nvPr/>
        </p:nvSpPr>
        <p:spPr>
          <a:xfrm>
            <a:off x="808560" y="3232440"/>
            <a:ext cx="4087080" cy="10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trike="noStrike">
                <a:solidFill>
                  <a:srgbClr val="F77070"/>
                </a:solidFill>
                <a:effectLst/>
                <a:uFillTx/>
                <a:latin typeface="Calibri"/>
              </a:rPr>
              <a:t>Exercise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F77070"/>
                </a:solidFill>
                <a:effectLst/>
                <a:uFillTx/>
                <a:latin typeface="Calibri"/>
              </a:rPr>
              <a:t>2: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F77070"/>
                </a:solidFill>
                <a:effectLst/>
                <a:uFillTx/>
                <a:latin typeface="Calibri"/>
              </a:rPr>
              <a:t>Broken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F77070"/>
                </a:solidFill>
                <a:effectLst/>
                <a:uFillTx/>
                <a:latin typeface="Calibri"/>
              </a:rPr>
              <a:t>Service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trike="noStrike">
                <a:solidFill>
                  <a:srgbClr val="F77070"/>
                </a:solidFill>
                <a:effectLst/>
                <a:uFillTx/>
                <a:latin typeface="Calibri"/>
              </a:rPr>
              <a:t>(Zero</a:t>
            </a:r>
            <a:r>
              <a:rPr lang="en-US" sz="1800" b="1" u="none" spc="-54" strike="noStrike">
                <a:solidFill>
                  <a:srgbClr val="F77070"/>
                </a:solidFill>
                <a:effectLst/>
                <a:uFillTx/>
                <a:latin typeface="Calibri"/>
              </a:rPr>
              <a:t> </a:t>
            </a:r>
            <a:r>
              <a:rPr lang="en-US" sz="1800" b="1" u="none" spc="-11" strike="noStrike">
                <a:solidFill>
                  <a:srgbClr val="F77070"/>
                </a:solidFill>
                <a:effectLst/>
                <a:uFillTx/>
                <a:latin typeface="Calibri"/>
              </a:rPr>
              <a:t>Endpoints)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-127080">
              <a:lnSpc>
                <a:spcPct val="100000"/>
              </a:lnSpc>
              <a:spcBef>
                <a:spcPts val="1440"/>
              </a:spcBef>
              <a:buClr>
                <a:srgbClr val="CBD4E1"/>
              </a:buClr>
              <a:buFont typeface="Symbol" charset="2"/>
              <a:buChar char=""/>
              <a:tabLst>
                <a:tab pos="139680" algn="l"/>
              </a:tabLst>
            </a:pP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Diagnosing mismatched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label</a:t>
            </a:r>
            <a:r>
              <a:rPr lang="en-US" sz="1400" b="0" u="none" spc="-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selectors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9680" indent="-12708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39680" algn="l"/>
              </a:tabLst>
            </a:pP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Identifying</a:t>
            </a:r>
            <a:r>
              <a:rPr lang="en-US" sz="14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ENDPOINTS:</a:t>
            </a:r>
            <a:r>
              <a:rPr lang="en-US" sz="14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&lt;none&gt;</a:t>
            </a:r>
            <a:r>
              <a:rPr lang="en-US" sz="14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4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issues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object 14" descr="image3.png"/>
          <p:cNvPicPr/>
          <p:nvPr/>
        </p:nvPicPr>
        <p:blipFill>
          <a:blip r:embed="rId4"/>
          <a:stretch/>
        </p:blipFill>
        <p:spPr>
          <a:xfrm>
            <a:off x="6217920" y="3840120"/>
            <a:ext cx="5485680" cy="164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A78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58" name="object 3"/>
          <p:cNvGrpSpPr/>
          <p:nvPr/>
        </p:nvGrpSpPr>
        <p:grpSpPr>
          <a:xfrm>
            <a:off x="618120" y="394200"/>
            <a:ext cx="1725480" cy="444960"/>
            <a:chOff x="618120" y="394200"/>
            <a:chExt cx="1725480" cy="444960"/>
          </a:xfrm>
        </p:grpSpPr>
        <p:pic>
          <p:nvPicPr>
            <p:cNvPr id="359" name="object 4"/>
            <p:cNvPicPr/>
            <p:nvPr/>
          </p:nvPicPr>
          <p:blipFill>
            <a:blip r:embed="rId1"/>
            <a:stretch/>
          </p:blipFill>
          <p:spPr>
            <a:xfrm>
              <a:off x="618120" y="394200"/>
              <a:ext cx="1725480" cy="444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0" name="object 5"/>
            <p:cNvSpPr/>
            <p:nvPr/>
          </p:nvSpPr>
          <p:spPr>
            <a:xfrm>
              <a:off x="658080" y="411120"/>
              <a:ext cx="1645560" cy="365400"/>
            </a:xfrm>
            <a:custGeom>
              <a:avLst/>
              <a:gdLst>
                <a:gd name="textAreaLeft" fmla="*/ 0 w 1645560"/>
                <a:gd name="textAreaRight" fmla="*/ 1645920 w 164556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645920" h="365759">
                  <a:moveTo>
                    <a:pt x="1584718" y="0"/>
                  </a:moveTo>
                  <a:lnTo>
                    <a:pt x="60845" y="0"/>
                  </a:lnTo>
                  <a:lnTo>
                    <a:pt x="52062" y="533"/>
                  </a:lnTo>
                  <a:lnTo>
                    <a:pt x="52682" y="533"/>
                  </a:lnTo>
                  <a:lnTo>
                    <a:pt x="45183" y="1931"/>
                  </a:lnTo>
                  <a:lnTo>
                    <a:pt x="12729" y="23710"/>
                  </a:lnTo>
                  <a:lnTo>
                    <a:pt x="0" y="60832"/>
                  </a:lnTo>
                  <a:lnTo>
                    <a:pt x="0" y="304914"/>
                  </a:lnTo>
                  <a:lnTo>
                    <a:pt x="466" y="312576"/>
                  </a:lnTo>
                  <a:lnTo>
                    <a:pt x="479" y="312778"/>
                  </a:lnTo>
                  <a:lnTo>
                    <a:pt x="1904" y="320394"/>
                  </a:lnTo>
                  <a:lnTo>
                    <a:pt x="1938" y="320576"/>
                  </a:lnTo>
                  <a:lnTo>
                    <a:pt x="4356" y="327941"/>
                  </a:lnTo>
                  <a:lnTo>
                    <a:pt x="4409" y="328102"/>
                  </a:lnTo>
                  <a:lnTo>
                    <a:pt x="7924" y="335152"/>
                  </a:lnTo>
                  <a:lnTo>
                    <a:pt x="12322" y="341679"/>
                  </a:lnTo>
                  <a:lnTo>
                    <a:pt x="12423" y="341829"/>
                  </a:lnTo>
                  <a:lnTo>
                    <a:pt x="44999" y="363643"/>
                  </a:lnTo>
                  <a:lnTo>
                    <a:pt x="60845" y="365760"/>
                  </a:lnTo>
                  <a:lnTo>
                    <a:pt x="1585087" y="365391"/>
                  </a:lnTo>
                  <a:lnTo>
                    <a:pt x="1621927" y="353024"/>
                  </a:lnTo>
                  <a:lnTo>
                    <a:pt x="1643745" y="320576"/>
                  </a:lnTo>
                  <a:lnTo>
                    <a:pt x="1643808" y="320394"/>
                  </a:lnTo>
                  <a:lnTo>
                    <a:pt x="1645346" y="312778"/>
                  </a:lnTo>
                  <a:lnTo>
                    <a:pt x="1645386" y="312576"/>
                  </a:lnTo>
                  <a:lnTo>
                    <a:pt x="1645896" y="304914"/>
                  </a:lnTo>
                  <a:lnTo>
                    <a:pt x="1645920" y="304558"/>
                  </a:lnTo>
                  <a:lnTo>
                    <a:pt x="1645564" y="60832"/>
                  </a:lnTo>
                  <a:lnTo>
                    <a:pt x="1633142" y="23918"/>
                  </a:lnTo>
                  <a:lnTo>
                    <a:pt x="1600565" y="2111"/>
                  </a:lnTo>
                  <a:lnTo>
                    <a:pt x="1592744" y="533"/>
                  </a:lnTo>
                  <a:lnTo>
                    <a:pt x="1584718" y="0"/>
                  </a:lnTo>
                  <a:close/>
                </a:path>
              </a:pathLst>
            </a:custGeom>
            <a:solidFill>
              <a:srgbClr val="A78A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1" name="object 6"/>
          <p:cNvSpPr/>
          <p:nvPr/>
        </p:nvSpPr>
        <p:spPr>
          <a:xfrm>
            <a:off x="1269360" y="497520"/>
            <a:ext cx="42192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GitOps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2637360" y="306720"/>
            <a:ext cx="7698960" cy="513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GitOps</a:t>
            </a:r>
            <a:r>
              <a:rPr lang="en-US" sz="3200" b="1" u="none" spc="-96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Continuous</a:t>
            </a:r>
            <a:r>
              <a:rPr lang="en-US" sz="3200" b="1" u="none" spc="-9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Delivery</a:t>
            </a:r>
            <a:r>
              <a:rPr lang="en-US" sz="3200" b="1" u="none" spc="-9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—</a:t>
            </a:r>
            <a:r>
              <a:rPr lang="en-US" sz="3200" b="1" u="none" spc="-96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3200" b="1" u="none" spc="-11" strike="noStrike">
                <a:solidFill>
                  <a:schemeClr val="lt1"/>
                </a:solidFill>
                <a:effectLst/>
                <a:uFillTx/>
                <a:latin typeface="Calibri"/>
              </a:rPr>
              <a:t>ArgoCD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63" name="object 8"/>
          <p:cNvGrpSpPr/>
          <p:nvPr/>
        </p:nvGrpSpPr>
        <p:grpSpPr>
          <a:xfrm>
            <a:off x="2520360" y="858960"/>
            <a:ext cx="4834440" cy="117000"/>
            <a:chOff x="2520360" y="858960"/>
            <a:chExt cx="4834440" cy="117000"/>
          </a:xfrm>
        </p:grpSpPr>
        <p:pic>
          <p:nvPicPr>
            <p:cNvPr id="364" name="object 9"/>
            <p:cNvPicPr/>
            <p:nvPr/>
          </p:nvPicPr>
          <p:blipFill>
            <a:blip r:embed="rId2"/>
            <a:stretch/>
          </p:blipFill>
          <p:spPr>
            <a:xfrm>
              <a:off x="2520360" y="858960"/>
              <a:ext cx="483444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5" name="object 10"/>
            <p:cNvSpPr/>
            <p:nvPr/>
          </p:nvSpPr>
          <p:spPr>
            <a:xfrm>
              <a:off x="2560320" y="875880"/>
              <a:ext cx="4754520" cy="37800"/>
            </a:xfrm>
            <a:custGeom>
              <a:avLst/>
              <a:gdLst>
                <a:gd name="textAreaLeft" fmla="*/ 0 w 4754520"/>
                <a:gd name="textAreaRight" fmla="*/ 4754880 w 475452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4754880" h="38100">
                  <a:moveTo>
                    <a:pt x="4754880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2377440" y="37795"/>
                  </a:lnTo>
                  <a:lnTo>
                    <a:pt x="4754880" y="37795"/>
                  </a:lnTo>
                  <a:lnTo>
                    <a:pt x="4754880" y="0"/>
                  </a:lnTo>
                  <a:close/>
                </a:path>
              </a:pathLst>
            </a:custGeom>
            <a:solidFill>
              <a:srgbClr val="A78A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6" name="object 11"/>
          <p:cNvSpPr/>
          <p:nvPr/>
        </p:nvSpPr>
        <p:spPr>
          <a:xfrm>
            <a:off x="808560" y="1118880"/>
            <a:ext cx="4763520" cy="23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3760" rIns="0" bIns="0" anchor="t">
            <a:spAutoFit/>
          </a:bodyPr>
          <a:p>
            <a:pPr marL="158040" indent="-145440">
              <a:lnSpc>
                <a:spcPct val="100000"/>
              </a:lnSpc>
              <a:spcBef>
                <a:spcPts val="893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ArgoCD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Application</a:t>
            </a:r>
            <a:r>
              <a:rPr lang="en-US" sz="16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manifest</a:t>
            </a:r>
            <a:r>
              <a:rPr lang="en-US" sz="16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in</a:t>
            </a:r>
            <a:r>
              <a:rPr lang="en-US" sz="16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gitops/application.yaml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Continuously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syncs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helm/taskboard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chart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to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Kubernetes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Automated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sync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with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pruning</a:t>
            </a:r>
            <a:r>
              <a:rPr lang="en-US" sz="1600" b="0" u="none" spc="-26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&amp;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20" strike="noStrike">
                <a:solidFill>
                  <a:srgbClr val="CBD4E1"/>
                </a:solidFill>
                <a:effectLst/>
                <a:uFillTx/>
                <a:latin typeface="Calibri"/>
              </a:rPr>
              <a:t>self-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healing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enabled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Source:</a:t>
            </a:r>
            <a:r>
              <a:rPr lang="en-US" sz="1600" b="0" u="none" spc="-1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github.com/abhaysingh-oo7/session21.git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45440">
              <a:lnSpc>
                <a:spcPct val="100000"/>
              </a:lnSpc>
              <a:spcBef>
                <a:spcPts val="794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Destination: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kubernetes.default.svc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→</a:t>
            </a:r>
            <a:r>
              <a:rPr lang="en-US" sz="1600" b="0" u="none" spc="-45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taskboard namespace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 indent="-145440">
              <a:lnSpc>
                <a:spcPct val="100000"/>
              </a:lnSpc>
              <a:spcBef>
                <a:spcPts val="799"/>
              </a:spcBef>
              <a:buClr>
                <a:srgbClr val="CBD4E1"/>
              </a:buClr>
              <a:buFont typeface="Symbol" charset="2"/>
              <a:buChar char=""/>
              <a:tabLst>
                <a:tab pos="158040" algn="l"/>
              </a:tabLst>
            </a:pP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Declarative,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31" strike="noStrike">
                <a:solidFill>
                  <a:srgbClr val="CBD4E1"/>
                </a:solidFill>
                <a:effectLst/>
                <a:uFillTx/>
                <a:latin typeface="Calibri"/>
              </a:rPr>
              <a:t>Git-</a:t>
            </a:r>
            <a:r>
              <a:rPr lang="en-US" sz="1600" b="0" u="none" strike="noStrike">
                <a:solidFill>
                  <a:srgbClr val="CBD4E1"/>
                </a:solidFill>
                <a:effectLst/>
                <a:uFillTx/>
                <a:latin typeface="Calibri"/>
              </a:rPr>
              <a:t>driven</a:t>
            </a:r>
            <a:r>
              <a:rPr lang="en-US" sz="1600" b="0" u="none" spc="-40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deployment</a:t>
            </a:r>
            <a:r>
              <a:rPr lang="en-US" sz="1600" b="0" u="none" spc="-34" strike="noStrike">
                <a:solidFill>
                  <a:srgbClr val="CBD4E1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CBD4E1"/>
                </a:solidFill>
                <a:effectLst/>
                <a:uFillTx/>
                <a:latin typeface="Calibri"/>
              </a:rPr>
              <a:t>model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7" name="object 12"/>
          <p:cNvGrpSpPr/>
          <p:nvPr/>
        </p:nvGrpSpPr>
        <p:grpSpPr>
          <a:xfrm>
            <a:off x="690840" y="5011920"/>
            <a:ext cx="1908720" cy="582480"/>
            <a:chOff x="690840" y="5011920"/>
            <a:chExt cx="1908720" cy="582480"/>
          </a:xfrm>
        </p:grpSpPr>
        <p:pic>
          <p:nvPicPr>
            <p:cNvPr id="368" name="object 13"/>
            <p:cNvPicPr/>
            <p:nvPr/>
          </p:nvPicPr>
          <p:blipFill>
            <a:blip r:embed="rId3"/>
            <a:stretch/>
          </p:blipFill>
          <p:spPr>
            <a:xfrm>
              <a:off x="690840" y="5011920"/>
              <a:ext cx="1908720" cy="582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9" name="object 14"/>
            <p:cNvSpPr/>
            <p:nvPr/>
          </p:nvSpPr>
          <p:spPr>
            <a:xfrm>
              <a:off x="730800" y="5028840"/>
              <a:ext cx="1829160" cy="503280"/>
            </a:xfrm>
            <a:custGeom>
              <a:avLst/>
              <a:gdLst>
                <a:gd name="textAreaLeft" fmla="*/ 0 w 1829160"/>
                <a:gd name="textAreaRight" fmla="*/ 1829520 w 1829160"/>
                <a:gd name="textAreaTop" fmla="*/ 0 h 503280"/>
                <a:gd name="textAreaBottom" fmla="*/ 503640 h 503280"/>
              </a:gdLst>
              <a:ahLst/>
              <a:cxnLst/>
              <a:rect l="textAreaLeft" t="textAreaTop" r="textAreaRight" b="textAreaBottom"/>
              <a:pathLst>
                <a:path w="1829435" h="503554">
                  <a:moveTo>
                    <a:pt x="84239" y="0"/>
                  </a:moveTo>
                  <a:lnTo>
                    <a:pt x="42125" y="11150"/>
                  </a:lnTo>
                  <a:lnTo>
                    <a:pt x="11518" y="42113"/>
                  </a:lnTo>
                  <a:lnTo>
                    <a:pt x="368" y="83870"/>
                  </a:lnTo>
                  <a:lnTo>
                    <a:pt x="0" y="419392"/>
                  </a:lnTo>
                  <a:lnTo>
                    <a:pt x="731" y="430376"/>
                  </a:lnTo>
                  <a:lnTo>
                    <a:pt x="2881" y="441126"/>
                  </a:lnTo>
                  <a:lnTo>
                    <a:pt x="6328" y="451385"/>
                  </a:lnTo>
                  <a:lnTo>
                    <a:pt x="6381" y="451540"/>
                  </a:lnTo>
                  <a:lnTo>
                    <a:pt x="11163" y="461518"/>
                  </a:lnTo>
                  <a:lnTo>
                    <a:pt x="17258" y="470395"/>
                  </a:lnTo>
                  <a:lnTo>
                    <a:pt x="17365" y="470550"/>
                  </a:lnTo>
                  <a:lnTo>
                    <a:pt x="51890" y="496894"/>
                  </a:lnTo>
                  <a:lnTo>
                    <a:pt x="83883" y="503275"/>
                  </a:lnTo>
                  <a:lnTo>
                    <a:pt x="1745284" y="503275"/>
                  </a:lnTo>
                  <a:lnTo>
                    <a:pt x="1787397" y="492112"/>
                  </a:lnTo>
                  <a:lnTo>
                    <a:pt x="1818005" y="461149"/>
                  </a:lnTo>
                  <a:lnTo>
                    <a:pt x="1829168" y="419392"/>
                  </a:lnTo>
                  <a:lnTo>
                    <a:pt x="1829143" y="83870"/>
                  </a:lnTo>
                  <a:lnTo>
                    <a:pt x="1818005" y="42113"/>
                  </a:lnTo>
                  <a:lnTo>
                    <a:pt x="1787042" y="11518"/>
                  </a:lnTo>
                  <a:lnTo>
                    <a:pt x="1745284" y="355"/>
                  </a:lnTo>
                  <a:lnTo>
                    <a:pt x="84239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0" name="object 15"/>
          <p:cNvSpPr/>
          <p:nvPr/>
        </p:nvSpPr>
        <p:spPr>
          <a:xfrm>
            <a:off x="1348200" y="5168880"/>
            <a:ext cx="5954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</a:t>
            </a:r>
            <a:r>
              <a:rPr lang="en-US" sz="13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3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Push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object 16"/>
          <p:cNvSpPr/>
          <p:nvPr/>
        </p:nvSpPr>
        <p:spPr>
          <a:xfrm>
            <a:off x="2558520" y="5107320"/>
            <a:ext cx="2782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200" b="0" u="none" spc="839" strike="noStrike">
                <a:solidFill>
                  <a:srgbClr val="FFFFFF"/>
                </a:solidFill>
                <a:effectLst/>
                <a:uFillTx/>
                <a:latin typeface="Calibri"/>
              </a:rPr>
              <a:t>*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2" name="object 17"/>
          <p:cNvGrpSpPr/>
          <p:nvPr/>
        </p:nvGrpSpPr>
        <p:grpSpPr>
          <a:xfrm>
            <a:off x="2793960" y="5011920"/>
            <a:ext cx="1908720" cy="582480"/>
            <a:chOff x="2793960" y="5011920"/>
            <a:chExt cx="1908720" cy="582480"/>
          </a:xfrm>
        </p:grpSpPr>
        <p:pic>
          <p:nvPicPr>
            <p:cNvPr id="373" name="object 18"/>
            <p:cNvPicPr/>
            <p:nvPr/>
          </p:nvPicPr>
          <p:blipFill>
            <a:blip r:embed="rId4"/>
            <a:stretch/>
          </p:blipFill>
          <p:spPr>
            <a:xfrm>
              <a:off x="2793960" y="5011920"/>
              <a:ext cx="1908720" cy="582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4" name="object 19"/>
            <p:cNvSpPr/>
            <p:nvPr/>
          </p:nvSpPr>
          <p:spPr>
            <a:xfrm>
              <a:off x="2833920" y="5028840"/>
              <a:ext cx="1829160" cy="503280"/>
            </a:xfrm>
            <a:custGeom>
              <a:avLst/>
              <a:gdLst>
                <a:gd name="textAreaLeft" fmla="*/ 0 w 1829160"/>
                <a:gd name="textAreaRight" fmla="*/ 1829520 w 1829160"/>
                <a:gd name="textAreaTop" fmla="*/ 0 h 503280"/>
                <a:gd name="textAreaBottom" fmla="*/ 503640 h 503280"/>
              </a:gdLst>
              <a:ahLst/>
              <a:cxnLst/>
              <a:rect l="textAreaLeft" t="textAreaTop" r="textAreaRight" b="textAreaBottom"/>
              <a:pathLst>
                <a:path w="1829435" h="503554">
                  <a:moveTo>
                    <a:pt x="84239" y="0"/>
                  </a:moveTo>
                  <a:lnTo>
                    <a:pt x="42125" y="11150"/>
                  </a:lnTo>
                  <a:lnTo>
                    <a:pt x="11518" y="42113"/>
                  </a:lnTo>
                  <a:lnTo>
                    <a:pt x="368" y="83870"/>
                  </a:lnTo>
                  <a:lnTo>
                    <a:pt x="0" y="419392"/>
                  </a:lnTo>
                  <a:lnTo>
                    <a:pt x="731" y="430376"/>
                  </a:lnTo>
                  <a:lnTo>
                    <a:pt x="17258" y="470395"/>
                  </a:lnTo>
                  <a:lnTo>
                    <a:pt x="51890" y="496894"/>
                  </a:lnTo>
                  <a:lnTo>
                    <a:pt x="83883" y="503275"/>
                  </a:lnTo>
                  <a:lnTo>
                    <a:pt x="1745284" y="503275"/>
                  </a:lnTo>
                  <a:lnTo>
                    <a:pt x="1787397" y="492112"/>
                  </a:lnTo>
                  <a:lnTo>
                    <a:pt x="1818005" y="461149"/>
                  </a:lnTo>
                  <a:lnTo>
                    <a:pt x="1829168" y="419392"/>
                  </a:lnTo>
                  <a:lnTo>
                    <a:pt x="1829143" y="83870"/>
                  </a:lnTo>
                  <a:lnTo>
                    <a:pt x="1818005" y="42113"/>
                  </a:lnTo>
                  <a:lnTo>
                    <a:pt x="1787042" y="11518"/>
                  </a:lnTo>
                  <a:lnTo>
                    <a:pt x="1745284" y="355"/>
                  </a:lnTo>
                  <a:lnTo>
                    <a:pt x="84239" y="0"/>
                  </a:lnTo>
                  <a:close/>
                </a:path>
              </a:pathLst>
            </a:custGeom>
            <a:solidFill>
              <a:srgbClr val="A78A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5" name="object 20"/>
          <p:cNvSpPr/>
          <p:nvPr/>
        </p:nvSpPr>
        <p:spPr>
          <a:xfrm>
            <a:off x="3204000" y="5168880"/>
            <a:ext cx="10904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ArgoCD</a:t>
            </a:r>
            <a:r>
              <a:rPr lang="en-US" sz="13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3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object 21"/>
          <p:cNvSpPr/>
          <p:nvPr/>
        </p:nvSpPr>
        <p:spPr>
          <a:xfrm>
            <a:off x="4661640" y="5107320"/>
            <a:ext cx="2782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200" b="0" u="none" spc="839" strike="noStrike">
                <a:solidFill>
                  <a:srgbClr val="FFFFFF"/>
                </a:solidFill>
                <a:effectLst/>
                <a:uFillTx/>
                <a:latin typeface="Calibri"/>
              </a:rPr>
              <a:t>*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7" name="object 22"/>
          <p:cNvGrpSpPr/>
          <p:nvPr/>
        </p:nvGrpSpPr>
        <p:grpSpPr>
          <a:xfrm>
            <a:off x="4897080" y="5011920"/>
            <a:ext cx="1908720" cy="582480"/>
            <a:chOff x="4897080" y="5011920"/>
            <a:chExt cx="1908720" cy="582480"/>
          </a:xfrm>
        </p:grpSpPr>
        <p:pic>
          <p:nvPicPr>
            <p:cNvPr id="378" name="object 23"/>
            <p:cNvPicPr/>
            <p:nvPr/>
          </p:nvPicPr>
          <p:blipFill>
            <a:blip r:embed="rId5"/>
            <a:stretch/>
          </p:blipFill>
          <p:spPr>
            <a:xfrm>
              <a:off x="4897080" y="5011920"/>
              <a:ext cx="1908720" cy="582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9" name="object 24"/>
            <p:cNvSpPr/>
            <p:nvPr/>
          </p:nvSpPr>
          <p:spPr>
            <a:xfrm>
              <a:off x="4937040" y="5028840"/>
              <a:ext cx="1829160" cy="503280"/>
            </a:xfrm>
            <a:custGeom>
              <a:avLst/>
              <a:gdLst>
                <a:gd name="textAreaLeft" fmla="*/ 0 w 1829160"/>
                <a:gd name="textAreaRight" fmla="*/ 1829520 w 1829160"/>
                <a:gd name="textAreaTop" fmla="*/ 0 h 503280"/>
                <a:gd name="textAreaBottom" fmla="*/ 503640 h 503280"/>
              </a:gdLst>
              <a:ahLst/>
              <a:cxnLst/>
              <a:rect l="textAreaLeft" t="textAreaTop" r="textAreaRight" b="textAreaBottom"/>
              <a:pathLst>
                <a:path w="1829434" h="503554">
                  <a:moveTo>
                    <a:pt x="84239" y="0"/>
                  </a:moveTo>
                  <a:lnTo>
                    <a:pt x="42125" y="11150"/>
                  </a:lnTo>
                  <a:lnTo>
                    <a:pt x="11518" y="42113"/>
                  </a:lnTo>
                  <a:lnTo>
                    <a:pt x="368" y="83870"/>
                  </a:lnTo>
                  <a:lnTo>
                    <a:pt x="0" y="419392"/>
                  </a:lnTo>
                  <a:lnTo>
                    <a:pt x="731" y="430376"/>
                  </a:lnTo>
                  <a:lnTo>
                    <a:pt x="17258" y="470395"/>
                  </a:lnTo>
                  <a:lnTo>
                    <a:pt x="51890" y="496894"/>
                  </a:lnTo>
                  <a:lnTo>
                    <a:pt x="83883" y="503275"/>
                  </a:lnTo>
                  <a:lnTo>
                    <a:pt x="1745284" y="503275"/>
                  </a:lnTo>
                  <a:lnTo>
                    <a:pt x="1787397" y="492112"/>
                  </a:lnTo>
                  <a:lnTo>
                    <a:pt x="1818005" y="461149"/>
                  </a:lnTo>
                  <a:lnTo>
                    <a:pt x="1822711" y="451540"/>
                  </a:lnTo>
                  <a:lnTo>
                    <a:pt x="1822787" y="451385"/>
                  </a:lnTo>
                  <a:lnTo>
                    <a:pt x="1826271" y="441126"/>
                  </a:lnTo>
                  <a:lnTo>
                    <a:pt x="1828435" y="430376"/>
                  </a:lnTo>
                  <a:lnTo>
                    <a:pt x="1829168" y="419392"/>
                  </a:lnTo>
                  <a:lnTo>
                    <a:pt x="1829143" y="83870"/>
                  </a:lnTo>
                  <a:lnTo>
                    <a:pt x="1818005" y="42113"/>
                  </a:lnTo>
                  <a:lnTo>
                    <a:pt x="1787042" y="11518"/>
                  </a:lnTo>
                  <a:lnTo>
                    <a:pt x="1745284" y="355"/>
                  </a:lnTo>
                  <a:lnTo>
                    <a:pt x="84239" y="0"/>
                  </a:lnTo>
                  <a:close/>
                </a:path>
              </a:pathLst>
            </a:custGeom>
            <a:solidFill>
              <a:srgbClr val="FB91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0" name="object 25"/>
          <p:cNvSpPr/>
          <p:nvPr/>
        </p:nvSpPr>
        <p:spPr>
          <a:xfrm>
            <a:off x="5394600" y="5168880"/>
            <a:ext cx="91548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Helm</a:t>
            </a:r>
            <a:r>
              <a:rPr lang="en-US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3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Render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object 26"/>
          <p:cNvSpPr/>
          <p:nvPr/>
        </p:nvSpPr>
        <p:spPr>
          <a:xfrm>
            <a:off x="6764760" y="5107320"/>
            <a:ext cx="2782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200" b="0" u="none" spc="839" strike="noStrike">
                <a:solidFill>
                  <a:srgbClr val="FFFFFF"/>
                </a:solidFill>
                <a:effectLst/>
                <a:uFillTx/>
                <a:latin typeface="Calibri"/>
              </a:rPr>
              <a:t>*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2" name="object 27"/>
          <p:cNvGrpSpPr/>
          <p:nvPr/>
        </p:nvGrpSpPr>
        <p:grpSpPr>
          <a:xfrm>
            <a:off x="7000200" y="5011920"/>
            <a:ext cx="1908720" cy="582480"/>
            <a:chOff x="7000200" y="5011920"/>
            <a:chExt cx="1908720" cy="582480"/>
          </a:xfrm>
        </p:grpSpPr>
        <p:pic>
          <p:nvPicPr>
            <p:cNvPr id="383" name="object 28"/>
            <p:cNvPicPr/>
            <p:nvPr/>
          </p:nvPicPr>
          <p:blipFill>
            <a:blip r:embed="rId6"/>
            <a:stretch/>
          </p:blipFill>
          <p:spPr>
            <a:xfrm>
              <a:off x="7000200" y="5011920"/>
              <a:ext cx="1908720" cy="582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4" name="object 29"/>
            <p:cNvSpPr/>
            <p:nvPr/>
          </p:nvSpPr>
          <p:spPr>
            <a:xfrm>
              <a:off x="7040160" y="5028840"/>
              <a:ext cx="1829160" cy="503280"/>
            </a:xfrm>
            <a:custGeom>
              <a:avLst/>
              <a:gdLst>
                <a:gd name="textAreaLeft" fmla="*/ 0 w 1829160"/>
                <a:gd name="textAreaRight" fmla="*/ 1829520 w 1829160"/>
                <a:gd name="textAreaTop" fmla="*/ 0 h 503280"/>
                <a:gd name="textAreaBottom" fmla="*/ 503640 h 503280"/>
              </a:gdLst>
              <a:ahLst/>
              <a:cxnLst/>
              <a:rect l="textAreaLeft" t="textAreaTop" r="textAreaRight" b="textAreaBottom"/>
              <a:pathLst>
                <a:path w="1829434" h="503554">
                  <a:moveTo>
                    <a:pt x="84239" y="0"/>
                  </a:moveTo>
                  <a:lnTo>
                    <a:pt x="42125" y="11150"/>
                  </a:lnTo>
                  <a:lnTo>
                    <a:pt x="11518" y="42113"/>
                  </a:lnTo>
                  <a:lnTo>
                    <a:pt x="368" y="83870"/>
                  </a:lnTo>
                  <a:lnTo>
                    <a:pt x="0" y="419392"/>
                  </a:lnTo>
                  <a:lnTo>
                    <a:pt x="731" y="430376"/>
                  </a:lnTo>
                  <a:lnTo>
                    <a:pt x="2881" y="441126"/>
                  </a:lnTo>
                  <a:lnTo>
                    <a:pt x="6328" y="451385"/>
                  </a:lnTo>
                  <a:lnTo>
                    <a:pt x="6381" y="451540"/>
                  </a:lnTo>
                  <a:lnTo>
                    <a:pt x="32880" y="485915"/>
                  </a:lnTo>
                  <a:lnTo>
                    <a:pt x="72904" y="502543"/>
                  </a:lnTo>
                  <a:lnTo>
                    <a:pt x="83883" y="503275"/>
                  </a:lnTo>
                  <a:lnTo>
                    <a:pt x="1745284" y="503275"/>
                  </a:lnTo>
                  <a:lnTo>
                    <a:pt x="1787398" y="492112"/>
                  </a:lnTo>
                  <a:lnTo>
                    <a:pt x="1818005" y="461149"/>
                  </a:lnTo>
                  <a:lnTo>
                    <a:pt x="1822711" y="451540"/>
                  </a:lnTo>
                  <a:lnTo>
                    <a:pt x="1822787" y="451385"/>
                  </a:lnTo>
                  <a:lnTo>
                    <a:pt x="1826271" y="441126"/>
                  </a:lnTo>
                  <a:lnTo>
                    <a:pt x="1828435" y="430376"/>
                  </a:lnTo>
                  <a:lnTo>
                    <a:pt x="1829168" y="419392"/>
                  </a:lnTo>
                  <a:lnTo>
                    <a:pt x="1829143" y="83870"/>
                  </a:lnTo>
                  <a:lnTo>
                    <a:pt x="1818005" y="42113"/>
                  </a:lnTo>
                  <a:lnTo>
                    <a:pt x="1787042" y="11518"/>
                  </a:lnTo>
                  <a:lnTo>
                    <a:pt x="1745284" y="355"/>
                  </a:lnTo>
                  <a:lnTo>
                    <a:pt x="84239" y="0"/>
                  </a:lnTo>
                  <a:close/>
                </a:path>
              </a:pathLst>
            </a:custGeom>
            <a:solidFill>
              <a:srgbClr val="49DE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5" name="object 30"/>
          <p:cNvSpPr/>
          <p:nvPr/>
        </p:nvSpPr>
        <p:spPr>
          <a:xfrm>
            <a:off x="7606800" y="5168880"/>
            <a:ext cx="69696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K8s</a:t>
            </a:r>
            <a:r>
              <a:rPr lang="en-US" sz="13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13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Apply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object 31"/>
          <p:cNvSpPr/>
          <p:nvPr/>
        </p:nvSpPr>
        <p:spPr>
          <a:xfrm>
            <a:off x="8867880" y="5107320"/>
            <a:ext cx="27828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200" b="0" u="none" spc="839" strike="noStrike">
                <a:solidFill>
                  <a:srgbClr val="FFFFFF"/>
                </a:solidFill>
                <a:effectLst/>
                <a:uFillTx/>
                <a:latin typeface="Calibri"/>
              </a:rPr>
              <a:t>*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7" name="object 32"/>
          <p:cNvGrpSpPr/>
          <p:nvPr/>
        </p:nvGrpSpPr>
        <p:grpSpPr>
          <a:xfrm>
            <a:off x="9103320" y="5011920"/>
            <a:ext cx="1908720" cy="582480"/>
            <a:chOff x="9103320" y="5011920"/>
            <a:chExt cx="1908720" cy="582480"/>
          </a:xfrm>
        </p:grpSpPr>
        <p:pic>
          <p:nvPicPr>
            <p:cNvPr id="388" name="object 33"/>
            <p:cNvPicPr/>
            <p:nvPr/>
          </p:nvPicPr>
          <p:blipFill>
            <a:blip r:embed="rId7"/>
            <a:stretch/>
          </p:blipFill>
          <p:spPr>
            <a:xfrm>
              <a:off x="9103320" y="5011920"/>
              <a:ext cx="1908720" cy="582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9" name="object 34"/>
            <p:cNvSpPr/>
            <p:nvPr/>
          </p:nvSpPr>
          <p:spPr>
            <a:xfrm>
              <a:off x="9143280" y="5028840"/>
              <a:ext cx="1829160" cy="503280"/>
            </a:xfrm>
            <a:custGeom>
              <a:avLst/>
              <a:gdLst>
                <a:gd name="textAreaLeft" fmla="*/ 0 w 1829160"/>
                <a:gd name="textAreaRight" fmla="*/ 1829520 w 1829160"/>
                <a:gd name="textAreaTop" fmla="*/ 0 h 503280"/>
                <a:gd name="textAreaBottom" fmla="*/ 503640 h 503280"/>
              </a:gdLst>
              <a:ahLst/>
              <a:cxnLst/>
              <a:rect l="textAreaLeft" t="textAreaTop" r="textAreaRight" b="textAreaBottom"/>
              <a:pathLst>
                <a:path w="1829434" h="503554">
                  <a:moveTo>
                    <a:pt x="84239" y="0"/>
                  </a:moveTo>
                  <a:lnTo>
                    <a:pt x="42125" y="11150"/>
                  </a:lnTo>
                  <a:lnTo>
                    <a:pt x="11518" y="42113"/>
                  </a:lnTo>
                  <a:lnTo>
                    <a:pt x="368" y="83870"/>
                  </a:lnTo>
                  <a:lnTo>
                    <a:pt x="0" y="419392"/>
                  </a:lnTo>
                  <a:lnTo>
                    <a:pt x="731" y="430376"/>
                  </a:lnTo>
                  <a:lnTo>
                    <a:pt x="2881" y="441126"/>
                  </a:lnTo>
                  <a:lnTo>
                    <a:pt x="6328" y="451385"/>
                  </a:lnTo>
                  <a:lnTo>
                    <a:pt x="6381" y="451540"/>
                  </a:lnTo>
                  <a:lnTo>
                    <a:pt x="32880" y="485915"/>
                  </a:lnTo>
                  <a:lnTo>
                    <a:pt x="72904" y="502543"/>
                  </a:lnTo>
                  <a:lnTo>
                    <a:pt x="83883" y="503275"/>
                  </a:lnTo>
                  <a:lnTo>
                    <a:pt x="1745284" y="503275"/>
                  </a:lnTo>
                  <a:lnTo>
                    <a:pt x="1787398" y="492112"/>
                  </a:lnTo>
                  <a:lnTo>
                    <a:pt x="1818004" y="461149"/>
                  </a:lnTo>
                  <a:lnTo>
                    <a:pt x="1822711" y="451540"/>
                  </a:lnTo>
                  <a:lnTo>
                    <a:pt x="1822787" y="451385"/>
                  </a:lnTo>
                  <a:lnTo>
                    <a:pt x="1826271" y="441126"/>
                  </a:lnTo>
                  <a:lnTo>
                    <a:pt x="1828435" y="430376"/>
                  </a:lnTo>
                  <a:lnTo>
                    <a:pt x="1829168" y="419392"/>
                  </a:lnTo>
                  <a:lnTo>
                    <a:pt x="1829143" y="83870"/>
                  </a:lnTo>
                  <a:lnTo>
                    <a:pt x="1818004" y="42113"/>
                  </a:lnTo>
                  <a:lnTo>
                    <a:pt x="1787042" y="11518"/>
                  </a:lnTo>
                  <a:lnTo>
                    <a:pt x="1745284" y="355"/>
                  </a:lnTo>
                  <a:lnTo>
                    <a:pt x="84239" y="0"/>
                  </a:lnTo>
                  <a:close/>
                </a:path>
              </a:pathLst>
            </a:custGeom>
            <a:solidFill>
              <a:srgbClr val="2CD3B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0" name="object 35"/>
          <p:cNvSpPr/>
          <p:nvPr/>
        </p:nvSpPr>
        <p:spPr>
          <a:xfrm>
            <a:off x="9741240" y="5168880"/>
            <a:ext cx="63396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3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Self-Heal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object 2"/>
          <p:cNvSpPr/>
          <p:nvPr/>
        </p:nvSpPr>
        <p:spPr>
          <a:xfrm>
            <a:off x="-360" y="-360"/>
            <a:ext cx="12191760" cy="54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4720"/>
              <a:gd name="textAreaBottom" fmla="*/ 55080 h 54720"/>
            </a:gdLst>
            <a:ahLst/>
            <a:cxnLst/>
            <a:rect l="textAreaLeft" t="textAreaTop" r="textAreaRight" b="textAreaBottom"/>
            <a:pathLst>
              <a:path w="12192000" h="55244">
                <a:moveTo>
                  <a:pt x="12183833" y="0"/>
                </a:moveTo>
                <a:lnTo>
                  <a:pt x="7556" y="0"/>
                </a:lnTo>
                <a:lnTo>
                  <a:pt x="6121" y="355"/>
                </a:lnTo>
                <a:lnTo>
                  <a:pt x="0" y="7556"/>
                </a:lnTo>
                <a:lnTo>
                  <a:pt x="0" y="47155"/>
                </a:lnTo>
                <a:lnTo>
                  <a:pt x="7556" y="54711"/>
                </a:lnTo>
                <a:lnTo>
                  <a:pt x="12184189" y="54355"/>
                </a:lnTo>
                <a:lnTo>
                  <a:pt x="12191758" y="45351"/>
                </a:lnTo>
                <a:lnTo>
                  <a:pt x="12191390" y="8991"/>
                </a:lnTo>
                <a:lnTo>
                  <a:pt x="12191390" y="7556"/>
                </a:lnTo>
                <a:lnTo>
                  <a:pt x="12185637" y="355"/>
                </a:lnTo>
                <a:lnTo>
                  <a:pt x="12183833" y="0"/>
                </a:lnTo>
                <a:close/>
              </a:path>
            </a:pathLst>
          </a:custGeom>
          <a:solidFill>
            <a:srgbClr val="37BD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4350960" y="1677960"/>
            <a:ext cx="3179880" cy="8485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5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Thank</a:t>
            </a:r>
            <a:r>
              <a:rPr lang="en-US" sz="5400" b="1" u="none" spc="-51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5400" b="1" u="none" spc="-99" strike="noStrike">
                <a:solidFill>
                  <a:schemeClr val="lt1"/>
                </a:solidFill>
                <a:effectLst/>
                <a:uFillTx/>
                <a:latin typeface="Calibri"/>
              </a:rPr>
              <a:t>You!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393" name="object 7"/>
          <p:cNvGrpSpPr/>
          <p:nvPr/>
        </p:nvGrpSpPr>
        <p:grpSpPr>
          <a:xfrm>
            <a:off x="4074480" y="2725920"/>
            <a:ext cx="3736800" cy="117000"/>
            <a:chOff x="4074480" y="2725920"/>
            <a:chExt cx="3736800" cy="117000"/>
          </a:xfrm>
        </p:grpSpPr>
        <p:pic>
          <p:nvPicPr>
            <p:cNvPr id="394" name="object 8"/>
            <p:cNvPicPr/>
            <p:nvPr/>
          </p:nvPicPr>
          <p:blipFill>
            <a:blip r:embed="rId1"/>
            <a:stretch/>
          </p:blipFill>
          <p:spPr>
            <a:xfrm>
              <a:off x="4074480" y="2725920"/>
              <a:ext cx="3736800" cy="11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95" name="object 9"/>
            <p:cNvSpPr/>
            <p:nvPr/>
          </p:nvSpPr>
          <p:spPr>
            <a:xfrm>
              <a:off x="4114440" y="2742840"/>
              <a:ext cx="3657240" cy="37800"/>
            </a:xfrm>
            <a:custGeom>
              <a:avLst/>
              <a:gdLst>
                <a:gd name="textAreaLeft" fmla="*/ 0 w 3657240"/>
                <a:gd name="textAreaRight" fmla="*/ 3657600 w 36572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657600" h="38100">
                  <a:moveTo>
                    <a:pt x="3657231" y="0"/>
                  </a:moveTo>
                  <a:lnTo>
                    <a:pt x="0" y="0"/>
                  </a:lnTo>
                  <a:lnTo>
                    <a:pt x="0" y="37795"/>
                  </a:lnTo>
                  <a:lnTo>
                    <a:pt x="1828800" y="37795"/>
                  </a:lnTo>
                  <a:lnTo>
                    <a:pt x="3657231" y="37795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37BD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6" name="object 10"/>
          <p:cNvSpPr/>
          <p:nvPr/>
        </p:nvSpPr>
        <p:spPr>
          <a:xfrm>
            <a:off x="3338280" y="3232440"/>
            <a:ext cx="52084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u="none" spc="-26" strike="noStrike">
                <a:solidFill>
                  <a:srgbClr val="37BDF7"/>
                </a:solidFill>
                <a:effectLst/>
                <a:uFillTx/>
                <a:latin typeface="Calibri"/>
              </a:rPr>
              <a:t>TaskBoard</a:t>
            </a:r>
            <a:r>
              <a:rPr lang="en-US" sz="2400" b="0" u="none" spc="-60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—</a:t>
            </a:r>
            <a:r>
              <a:rPr lang="en-US" sz="2400" b="0" u="none" spc="-60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A</a:t>
            </a:r>
            <a:r>
              <a:rPr lang="en-US" sz="2400" b="0" u="none" spc="-60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Complete</a:t>
            </a:r>
            <a:r>
              <a:rPr lang="en-US" sz="2400" b="0" u="none" spc="-60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rgbClr val="37BDF7"/>
                </a:solidFill>
                <a:effectLst/>
                <a:uFillTx/>
                <a:latin typeface="Calibri"/>
              </a:rPr>
              <a:t>DevOps</a:t>
            </a:r>
            <a:r>
              <a:rPr lang="en-US" sz="2400" b="0" u="none" spc="-54" strike="noStrike">
                <a:solidFill>
                  <a:srgbClr val="37BDF7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pc="-11" strike="noStrike">
                <a:solidFill>
                  <a:srgbClr val="37BDF7"/>
                </a:solidFill>
                <a:effectLst/>
                <a:uFillTx/>
                <a:latin typeface="Calibri"/>
              </a:rPr>
              <a:t>Journey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object 11"/>
          <p:cNvSpPr/>
          <p:nvPr/>
        </p:nvSpPr>
        <p:spPr>
          <a:xfrm>
            <a:off x="9785160" y="5518440"/>
            <a:ext cx="194328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algn="r">
              <a:lnSpc>
                <a:spcPct val="100000"/>
              </a:lnSpc>
              <a:spcBef>
                <a:spcPts val="96"/>
              </a:spcBef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Abhay</a:t>
            </a:r>
            <a:r>
              <a:rPr lang="en-US" sz="1600" b="0" u="none" spc="-45" strike="noStrike">
                <a:solidFill>
                  <a:srgbClr val="94A3B8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Singh</a:t>
            </a:r>
            <a:r>
              <a:rPr lang="en-US" sz="1600" b="0" u="none" spc="-45" strike="noStrike">
                <a:solidFill>
                  <a:srgbClr val="94A3B8"/>
                </a:solidFill>
                <a:effectLst/>
                <a:uFillTx/>
                <a:latin typeface="Calibri"/>
              </a:rPr>
              <a:t> </a:t>
            </a:r>
            <a:r>
              <a:rPr lang="en-US" sz="1600" b="0" u="none" spc="-11" strike="noStrike">
                <a:solidFill>
                  <a:srgbClr val="94A3B8"/>
                </a:solidFill>
                <a:effectLst/>
                <a:uFillTx/>
                <a:latin typeface="Calibri"/>
              </a:rPr>
              <a:t>Bhaduaria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600" b="0" u="none" spc="-11" strike="noStrike">
                <a:solidFill>
                  <a:srgbClr val="94A3B8"/>
                </a:solidFill>
                <a:effectLst/>
                <a:uFillTx/>
                <a:latin typeface="Calibri"/>
              </a:rPr>
              <a:t>24BCS10102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object 3"/>
          <p:cNvGrpSpPr/>
          <p:nvPr/>
        </p:nvGrpSpPr>
        <p:grpSpPr>
          <a:xfrm>
            <a:off x="-720" y="6767640"/>
            <a:ext cx="12192120" cy="90360"/>
            <a:chOff x="-720" y="6767640"/>
            <a:chExt cx="12192120" cy="90360"/>
          </a:xfrm>
        </p:grpSpPr>
        <p:pic>
          <p:nvPicPr>
            <p:cNvPr id="399" name="object 4"/>
            <p:cNvPicPr/>
            <p:nvPr/>
          </p:nvPicPr>
          <p:blipFill>
            <a:blip r:embed="rId2"/>
            <a:stretch/>
          </p:blipFill>
          <p:spPr>
            <a:xfrm>
              <a:off x="0" y="6767640"/>
              <a:ext cx="12191040" cy="8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0" name="object 5"/>
            <p:cNvSpPr/>
            <p:nvPr/>
          </p:nvSpPr>
          <p:spPr>
            <a:xfrm>
              <a:off x="-720" y="6784560"/>
              <a:ext cx="12192120" cy="73440"/>
            </a:xfrm>
            <a:custGeom>
              <a:avLst/>
              <a:gdLst>
                <a:gd name="textAreaLeft" fmla="*/ 0 w 12192120"/>
                <a:gd name="textAreaRight" fmla="*/ 12192480 w 1219212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12192635" h="73659">
                  <a:moveTo>
                    <a:pt x="10439" y="0"/>
                  </a:moveTo>
                  <a:lnTo>
                    <a:pt x="368" y="10083"/>
                  </a:lnTo>
                  <a:lnTo>
                    <a:pt x="368" y="12242"/>
                  </a:lnTo>
                  <a:lnTo>
                    <a:pt x="0" y="61201"/>
                  </a:lnTo>
                  <a:lnTo>
                    <a:pt x="0" y="63360"/>
                  </a:lnTo>
                  <a:lnTo>
                    <a:pt x="723" y="65519"/>
                  </a:lnTo>
                  <a:lnTo>
                    <a:pt x="2882" y="69126"/>
                  </a:lnTo>
                  <a:lnTo>
                    <a:pt x="4318" y="70561"/>
                  </a:lnTo>
                  <a:lnTo>
                    <a:pt x="7924" y="72720"/>
                  </a:lnTo>
                  <a:lnTo>
                    <a:pt x="10083" y="73444"/>
                  </a:lnTo>
                  <a:lnTo>
                    <a:pt x="12182043" y="73444"/>
                  </a:lnTo>
                  <a:lnTo>
                    <a:pt x="12192127" y="63360"/>
                  </a:lnTo>
                  <a:lnTo>
                    <a:pt x="12192007" y="10083"/>
                  </a:lnTo>
                  <a:lnTo>
                    <a:pt x="12182043" y="368"/>
                  </a:lnTo>
                  <a:lnTo>
                    <a:pt x="10439" y="0"/>
                  </a:lnTo>
                  <a:close/>
                </a:path>
              </a:pathLst>
            </a:custGeom>
            <a:solidFill>
              <a:srgbClr val="A78A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2026-10-17T08:02:47Z</dcterms:created>
  <dc:creator/>
  <dc:description/>
  <dc:language>en-US</dc:language>
  <cp:lastModifiedBy/>
  <dcterms:modified xsi:type="dcterms:W3CDTF">2026-10-17T13:35:25Z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2026-10-16T00:00:00Z</vt:filetime>
  </property>
  <property fmtid="{D5CDD505-2E9C-101B-9397-08002B2CF9AE}" pid="4" name="Creator">
    <vt:lpwstr>Impress</vt:lpwstr>
  </property>
  <property fmtid="{D5CDD505-2E9C-101B-9397-08002B2CF9AE}" pid="5" name="LastSaved">
    <vt:filetime>2026-10-16T00:00:00Z</vt:filetime>
  </property>
  <property fmtid="{D5CDD505-2E9C-101B-9397-08002B2CF9AE}" pid="6" name="PresentationFormat">
    <vt:lpwstr>On-screen Show (4:3)</vt:lpwstr>
  </property>
  <property fmtid="{D5CDD505-2E9C-101B-9397-08002B2CF9AE}" pid="7" name="Producer">
    <vt:lpwstr>LibreOffice 26.2.6.3 (X86_64)</vt:lpwstr>
  </property>
</Properties>
</file>